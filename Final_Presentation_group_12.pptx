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6" r:id="rId2"/>
    <p:sldId id="258" r:id="rId3"/>
    <p:sldId id="271" r:id="rId4"/>
    <p:sldId id="260" r:id="rId5"/>
    <p:sldId id="273" r:id="rId6"/>
    <p:sldId id="274" r:id="rId7"/>
    <p:sldId id="266" r:id="rId8"/>
    <p:sldId id="265" r:id="rId9"/>
    <p:sldId id="267" r:id="rId10"/>
    <p:sldId id="268" r:id="rId11"/>
    <p:sldId id="269" r:id="rId12"/>
    <p:sldId id="262" r:id="rId13"/>
    <p:sldId id="272" r:id="rId14"/>
    <p:sldId id="263" r:id="rId15"/>
    <p:sldId id="264"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691" autoAdjust="0"/>
    <p:restoredTop sz="92065"/>
  </p:normalViewPr>
  <p:slideViewPr>
    <p:cSldViewPr snapToGrid="0">
      <p:cViewPr varScale="1">
        <p:scale>
          <a:sx n="109" d="100"/>
          <a:sy n="109" d="100"/>
        </p:scale>
        <p:origin x="108" y="2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50" b="0" i="0" u="none" strike="noStrike" kern="1200" spc="0" baseline="0">
                <a:solidFill>
                  <a:schemeClr val="tx1">
                    <a:lumMod val="65000"/>
                    <a:lumOff val="35000"/>
                  </a:schemeClr>
                </a:solidFill>
                <a:latin typeface="+mn-lt"/>
                <a:ea typeface="+mn-ea"/>
                <a:cs typeface="+mn-cs"/>
              </a:defRPr>
            </a:pPr>
            <a:r>
              <a:rPr lang="en-US" sz="1050" dirty="0"/>
              <a:t>Projected Vehicle Sales Proportions in the Combined NA and EU Market</a:t>
            </a:r>
          </a:p>
        </c:rich>
      </c:tx>
      <c:layout>
        <c:manualLayout>
          <c:xMode val="edge"/>
          <c:yMode val="edge"/>
          <c:x val="0.16777259358774191"/>
          <c:y val="3.5664940520988959E-2"/>
        </c:manualLayout>
      </c:layout>
      <c:overlay val="0"/>
      <c:spPr>
        <a:noFill/>
        <a:ln>
          <a:noFill/>
        </a:ln>
        <a:effectLst/>
      </c:spPr>
      <c:txPr>
        <a:bodyPr rot="0" spcFirstLastPara="1" vertOverflow="ellipsis" vert="horz" wrap="square" anchor="ctr" anchorCtr="1"/>
        <a:lstStyle/>
        <a:p>
          <a:pPr>
            <a:defRPr sz="105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manualLayout>
          <c:layoutTarget val="inner"/>
          <c:xMode val="edge"/>
          <c:yMode val="edge"/>
          <c:x val="0.20812836413983515"/>
          <c:y val="0.22435692682489025"/>
          <c:w val="0.74025136154478011"/>
          <c:h val="0.49007323820896975"/>
        </c:manualLayout>
      </c:layout>
      <c:barChart>
        <c:barDir val="col"/>
        <c:grouping val="percentStacked"/>
        <c:varyColors val="0"/>
        <c:ser>
          <c:idx val="0"/>
          <c:order val="0"/>
          <c:tx>
            <c:strRef>
              <c:f>Sheet1!$B$1</c:f>
              <c:strCache>
                <c:ptCount val="1"/>
                <c:pt idx="0">
                  <c:v>Electric Vehicles</c:v>
                </c:pt>
              </c:strCache>
            </c:strRef>
          </c:tx>
          <c:spPr>
            <a:solidFill>
              <a:schemeClr val="accent1"/>
            </a:solidFill>
            <a:ln>
              <a:noFill/>
            </a:ln>
            <a:effectLst/>
          </c:spPr>
          <c:invertIfNegative val="0"/>
          <c:cat>
            <c:numRef>
              <c:f>Sheet1!$A$2:$A$4</c:f>
              <c:numCache>
                <c:formatCode>General</c:formatCode>
                <c:ptCount val="3"/>
                <c:pt idx="0">
                  <c:v>2019</c:v>
                </c:pt>
                <c:pt idx="1">
                  <c:v>2025</c:v>
                </c:pt>
                <c:pt idx="2">
                  <c:v>2030</c:v>
                </c:pt>
              </c:numCache>
            </c:numRef>
          </c:cat>
          <c:val>
            <c:numRef>
              <c:f>Sheet1!$B$2:$B$4</c:f>
              <c:numCache>
                <c:formatCode>0.0%</c:formatCode>
                <c:ptCount val="3"/>
                <c:pt idx="0">
                  <c:v>2.5999999999999999E-2</c:v>
                </c:pt>
                <c:pt idx="1">
                  <c:v>9.9000000000000005E-2</c:v>
                </c:pt>
                <c:pt idx="2">
                  <c:v>0.29199999999999998</c:v>
                </c:pt>
              </c:numCache>
            </c:numRef>
          </c:val>
          <c:extLst>
            <c:ext xmlns:c16="http://schemas.microsoft.com/office/drawing/2014/chart" uri="{C3380CC4-5D6E-409C-BE32-E72D297353CC}">
              <c16:uniqueId val="{00000000-317E-C249-AC41-2D7432DBE6BD}"/>
            </c:ext>
          </c:extLst>
        </c:ser>
        <c:ser>
          <c:idx val="1"/>
          <c:order val="1"/>
          <c:tx>
            <c:strRef>
              <c:f>Sheet1!$C$1</c:f>
              <c:strCache>
                <c:ptCount val="1"/>
                <c:pt idx="0">
                  <c:v>Gas Vehicles</c:v>
                </c:pt>
              </c:strCache>
            </c:strRef>
          </c:tx>
          <c:spPr>
            <a:solidFill>
              <a:schemeClr val="accent2"/>
            </a:solidFill>
            <a:ln>
              <a:noFill/>
            </a:ln>
            <a:effectLst/>
          </c:spPr>
          <c:invertIfNegative val="0"/>
          <c:cat>
            <c:numRef>
              <c:f>Sheet1!$A$2:$A$4</c:f>
              <c:numCache>
                <c:formatCode>General</c:formatCode>
                <c:ptCount val="3"/>
                <c:pt idx="0">
                  <c:v>2019</c:v>
                </c:pt>
                <c:pt idx="1">
                  <c:v>2025</c:v>
                </c:pt>
                <c:pt idx="2">
                  <c:v>2030</c:v>
                </c:pt>
              </c:numCache>
            </c:numRef>
          </c:cat>
          <c:val>
            <c:numRef>
              <c:f>Sheet1!$C$2:$C$4</c:f>
              <c:numCache>
                <c:formatCode>0.0%</c:formatCode>
                <c:ptCount val="3"/>
                <c:pt idx="0">
                  <c:v>0.97399999999999998</c:v>
                </c:pt>
                <c:pt idx="1">
                  <c:v>0.90100000000000002</c:v>
                </c:pt>
                <c:pt idx="2">
                  <c:v>0.70799999999999996</c:v>
                </c:pt>
              </c:numCache>
            </c:numRef>
          </c:val>
          <c:extLst>
            <c:ext xmlns:c16="http://schemas.microsoft.com/office/drawing/2014/chart" uri="{C3380CC4-5D6E-409C-BE32-E72D297353CC}">
              <c16:uniqueId val="{00000001-317E-C249-AC41-2D7432DBE6BD}"/>
            </c:ext>
          </c:extLst>
        </c:ser>
        <c:dLbls>
          <c:showLegendKey val="0"/>
          <c:showVal val="0"/>
          <c:showCatName val="0"/>
          <c:showSerName val="0"/>
          <c:showPercent val="0"/>
          <c:showBubbleSize val="0"/>
        </c:dLbls>
        <c:gapWidth val="150"/>
        <c:overlap val="100"/>
        <c:axId val="512864032"/>
        <c:axId val="541594784"/>
      </c:barChart>
      <c:catAx>
        <c:axId val="5128640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zh-CN"/>
          </a:p>
        </c:txPr>
        <c:crossAx val="541594784"/>
        <c:crosses val="autoZero"/>
        <c:auto val="1"/>
        <c:lblAlgn val="ctr"/>
        <c:lblOffset val="100"/>
        <c:noMultiLvlLbl val="0"/>
      </c:catAx>
      <c:valAx>
        <c:axId val="541594784"/>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zh-CN"/>
          </a:p>
        </c:txPr>
        <c:crossAx val="51286403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50"/>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30DE56-033F-49F9-994F-02DBAC38DB45}" type="datetimeFigureOut">
              <a:rPr lang="zh-CN" altLang="en-US" smtClean="0"/>
              <a:t>2020/11/19</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9A275C-3DD1-4043-A1B7-F333ECB786C6}" type="slidenum">
              <a:rPr lang="zh-CN" altLang="en-US" smtClean="0"/>
              <a:t>‹#›</a:t>
            </a:fld>
            <a:endParaRPr lang="zh-CN" altLang="en-US"/>
          </a:p>
        </p:txBody>
      </p:sp>
    </p:spTree>
    <p:extLst>
      <p:ext uri="{BB962C8B-B14F-4D97-AF65-F5344CB8AC3E}">
        <p14:creationId xmlns:p14="http://schemas.microsoft.com/office/powerpoint/2010/main" val="3535188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AutoNum type="arabicPeriod"/>
            </a:pPr>
            <a:r>
              <a:rPr lang="en-US" altLang="zh-CN" sz="1200" dirty="0">
                <a:effectLst/>
                <a:latin typeface="Times New Roman" panose="02020603050405020304" pitchFamily="18" charset="0"/>
                <a:ea typeface="等线" panose="02010600030101010101" pitchFamily="2" charset="-122"/>
              </a:rPr>
              <a:t>the positive linear relationships seen in the tailpipe emission(co2TailpipeGpm), fuel cost, and annual petroleum consumption (barrels08) variables</a:t>
            </a:r>
          </a:p>
          <a:p>
            <a:pPr marL="342900" indent="-342900">
              <a:buAutoNum type="arabicPeriod"/>
            </a:pPr>
            <a:r>
              <a:rPr lang="en-US" altLang="zh-CN" sz="1200" dirty="0">
                <a:effectLst/>
                <a:latin typeface="Times New Roman" panose="02020603050405020304" pitchFamily="18" charset="0"/>
                <a:ea typeface="等线" panose="02010600030101010101" pitchFamily="2" charset="-122"/>
              </a:rPr>
              <a:t>the number of cylinders and engine displacement in liters (</a:t>
            </a:r>
            <a:r>
              <a:rPr lang="en-US" altLang="zh-CN" sz="1200" dirty="0" err="1">
                <a:effectLst/>
                <a:latin typeface="Times New Roman" panose="02020603050405020304" pitchFamily="18" charset="0"/>
                <a:ea typeface="等线" panose="02010600030101010101" pitchFamily="2" charset="-122"/>
              </a:rPr>
              <a:t>displ</a:t>
            </a:r>
            <a:r>
              <a:rPr lang="en-US" altLang="zh-CN" sz="1200" dirty="0">
                <a:effectLst/>
                <a:latin typeface="Times New Roman" panose="02020603050405020304" pitchFamily="18" charset="0"/>
                <a:ea typeface="等线" panose="02010600030101010101" pitchFamily="2" charset="-122"/>
              </a:rPr>
              <a:t>) appear to have the highest potential to affect fuel cost as well as the cost on vehicle in 5 years (</a:t>
            </a:r>
            <a:r>
              <a:rPr lang="en-US" altLang="zh-CN" sz="1200" dirty="0" err="1">
                <a:effectLst/>
                <a:latin typeface="Times New Roman" panose="02020603050405020304" pitchFamily="18" charset="0"/>
                <a:ea typeface="等线" panose="02010600030101010101" pitchFamily="2" charset="-122"/>
              </a:rPr>
              <a:t>youSaveSpend</a:t>
            </a:r>
            <a:r>
              <a:rPr lang="en-US" altLang="zh-CN" sz="1200" dirty="0">
                <a:effectLst/>
                <a:latin typeface="Times New Roman" panose="02020603050405020304" pitchFamily="18" charset="0"/>
                <a:ea typeface="等线" panose="02010600030101010101" pitchFamily="2" charset="-122"/>
              </a:rPr>
              <a:t>). </a:t>
            </a:r>
            <a:endParaRPr lang="zh-CN" altLang="en-US" dirty="0"/>
          </a:p>
          <a:p>
            <a:endParaRPr lang="zh-CN" altLang="en-US" dirty="0"/>
          </a:p>
        </p:txBody>
      </p:sp>
      <p:sp>
        <p:nvSpPr>
          <p:cNvPr id="4" name="Slide Number Placeholder 3"/>
          <p:cNvSpPr>
            <a:spLocks noGrp="1"/>
          </p:cNvSpPr>
          <p:nvPr>
            <p:ph type="sldNum" sz="quarter" idx="5"/>
          </p:nvPr>
        </p:nvSpPr>
        <p:spPr/>
        <p:txBody>
          <a:bodyPr/>
          <a:lstStyle/>
          <a:p>
            <a:fld id="{6E9A275C-3DD1-4043-A1B7-F333ECB786C6}" type="slidenum">
              <a:rPr lang="zh-CN" altLang="en-US" smtClean="0"/>
              <a:t>4</a:t>
            </a:fld>
            <a:endParaRPr lang="zh-CN" altLang="en-US"/>
          </a:p>
        </p:txBody>
      </p:sp>
    </p:spTree>
    <p:extLst>
      <p:ext uri="{BB962C8B-B14F-4D97-AF65-F5344CB8AC3E}">
        <p14:creationId xmlns:p14="http://schemas.microsoft.com/office/powerpoint/2010/main" val="3204217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ltLang="zh-CN"/>
              <a:t>Click to edit Master subtitle style</a:t>
            </a:r>
            <a:endParaRPr lang="en-US" dirty="0"/>
          </a:p>
        </p:txBody>
      </p:sp>
      <p:sp>
        <p:nvSpPr>
          <p:cNvPr id="4" name="Date Placeholder 3"/>
          <p:cNvSpPr>
            <a:spLocks noGrp="1"/>
          </p:cNvSpPr>
          <p:nvPr>
            <p:ph type="dt" sz="half" idx="10"/>
          </p:nvPr>
        </p:nvSpPr>
        <p:spPr/>
        <p:txBody>
          <a:bodyPr/>
          <a:lstStyle/>
          <a:p>
            <a:fld id="{4FBB3DF8-9984-45D9-881C-F5D26F387F10}" type="datetimeFigureOut">
              <a:rPr lang="zh-CN" altLang="en-US" smtClean="0"/>
              <a:t>2020/11/19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8EAA53B-7C0E-4917-8C91-99D95BEF4936}" type="slidenum">
              <a:rPr lang="zh-CN" altLang="en-US" smtClean="0"/>
              <a:t>‹#›</a:t>
            </a:fld>
            <a:endParaRPr lang="zh-CN"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4157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ltLang="zh-CN"/>
              <a:t>Click to edit Master title style</a:t>
            </a:r>
            <a:endParaRPr lang="en-US" dirty="0"/>
          </a:p>
        </p:txBody>
      </p:sp>
      <p:sp>
        <p:nvSpPr>
          <p:cNvPr id="3" name="Content Placeholder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4FBB3DF8-9984-45D9-881C-F5D26F387F10}" type="datetimeFigureOut">
              <a:rPr lang="zh-CN" altLang="en-US" smtClean="0"/>
              <a:t>2020/11/19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8EAA53B-7C0E-4917-8C91-99D95BEF4936}" type="slidenum">
              <a:rPr lang="zh-CN" altLang="en-US" smtClean="0"/>
              <a:t>‹#›</a:t>
            </a:fld>
            <a:endParaRPr lang="zh-CN" altLang="en-US"/>
          </a:p>
        </p:txBody>
      </p:sp>
    </p:spTree>
    <p:extLst>
      <p:ext uri="{BB962C8B-B14F-4D97-AF65-F5344CB8AC3E}">
        <p14:creationId xmlns:p14="http://schemas.microsoft.com/office/powerpoint/2010/main" val="39753781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CN"/>
              <a:t>Click to edit Master text styles</a:t>
            </a:r>
          </a:p>
        </p:txBody>
      </p:sp>
      <p:sp>
        <p:nvSpPr>
          <p:cNvPr id="4" name="Date Placeholder 3"/>
          <p:cNvSpPr>
            <a:spLocks noGrp="1"/>
          </p:cNvSpPr>
          <p:nvPr>
            <p:ph type="dt" sz="half" idx="10"/>
          </p:nvPr>
        </p:nvSpPr>
        <p:spPr/>
        <p:txBody>
          <a:bodyPr/>
          <a:lstStyle/>
          <a:p>
            <a:fld id="{4FBB3DF8-9984-45D9-881C-F5D26F387F10}" type="datetimeFigureOut">
              <a:rPr lang="zh-CN" altLang="en-US" smtClean="0"/>
              <a:t>2020/11/19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8EAA53B-7C0E-4917-8C91-99D95BEF4936}" type="slidenum">
              <a:rPr lang="zh-CN" altLang="en-US" smtClean="0"/>
              <a:t>‹#›</a:t>
            </a:fld>
            <a:endParaRPr lang="zh-CN"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01603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4FBB3DF8-9984-45D9-881C-F5D26F387F10}" type="datetimeFigureOut">
              <a:rPr lang="zh-CN" altLang="en-US" smtClean="0"/>
              <a:t>2020/11/19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48EAA53B-7C0E-4917-8C91-99D95BEF4936}" type="slidenum">
              <a:rPr lang="zh-CN" altLang="en-US" smtClean="0"/>
              <a:t>‹#›</a:t>
            </a:fld>
            <a:endParaRPr lang="zh-CN" altLang="en-US"/>
          </a:p>
        </p:txBody>
      </p:sp>
    </p:spTree>
    <p:extLst>
      <p:ext uri="{BB962C8B-B14F-4D97-AF65-F5344CB8AC3E}">
        <p14:creationId xmlns:p14="http://schemas.microsoft.com/office/powerpoint/2010/main" val="3896350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4FBB3DF8-9984-45D9-881C-F5D26F387F10}" type="datetimeFigureOut">
              <a:rPr lang="zh-CN" altLang="en-US" smtClean="0"/>
              <a:t>2020/11/19</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48EAA53B-7C0E-4917-8C91-99D95BEF4936}" type="slidenum">
              <a:rPr lang="zh-CN" altLang="en-US" smtClean="0"/>
              <a:t>‹#›</a:t>
            </a:fld>
            <a:endParaRPr lang="zh-CN" altLang="en-US"/>
          </a:p>
        </p:txBody>
      </p:sp>
    </p:spTree>
    <p:extLst>
      <p:ext uri="{BB962C8B-B14F-4D97-AF65-F5344CB8AC3E}">
        <p14:creationId xmlns:p14="http://schemas.microsoft.com/office/powerpoint/2010/main" val="1122539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4FBB3DF8-9984-45D9-881C-F5D26F387F10}" type="datetimeFigureOut">
              <a:rPr lang="zh-CN" altLang="en-US" smtClean="0"/>
              <a:t>2020/11/19</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48EAA53B-7C0E-4917-8C91-99D95BEF4936}" type="slidenum">
              <a:rPr lang="zh-CN" altLang="en-US" smtClean="0"/>
              <a:t>‹#›</a:t>
            </a:fld>
            <a:endParaRPr lang="zh-CN" altLang="en-US"/>
          </a:p>
        </p:txBody>
      </p:sp>
    </p:spTree>
    <p:extLst>
      <p:ext uri="{BB962C8B-B14F-4D97-AF65-F5344CB8AC3E}">
        <p14:creationId xmlns:p14="http://schemas.microsoft.com/office/powerpoint/2010/main" val="28904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FBB3DF8-9984-45D9-881C-F5D26F387F10}" type="datetimeFigureOut">
              <a:rPr lang="zh-CN" altLang="en-US" smtClean="0"/>
              <a:t>2020/11/19</a:t>
            </a:fld>
            <a:endParaRPr lang="zh-CN" alt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zh-CN" altLang="en-US"/>
          </a:p>
        </p:txBody>
      </p:sp>
      <p:sp>
        <p:nvSpPr>
          <p:cNvPr id="9" name="Slide Number Placeholder 8"/>
          <p:cNvSpPr>
            <a:spLocks noGrp="1"/>
          </p:cNvSpPr>
          <p:nvPr>
            <p:ph type="sldNum" sz="quarter" idx="12"/>
          </p:nvPr>
        </p:nvSpPr>
        <p:spPr/>
        <p:txBody>
          <a:bodyPr/>
          <a:lstStyle/>
          <a:p>
            <a:fld id="{48EAA53B-7C0E-4917-8C91-99D95BEF4936}" type="slidenum">
              <a:rPr lang="zh-CN" altLang="en-US" smtClean="0"/>
              <a:t>‹#›</a:t>
            </a:fld>
            <a:endParaRPr lang="zh-CN" altLang="en-US"/>
          </a:p>
        </p:txBody>
      </p:sp>
    </p:spTree>
    <p:extLst>
      <p:ext uri="{BB962C8B-B14F-4D97-AF65-F5344CB8AC3E}">
        <p14:creationId xmlns:p14="http://schemas.microsoft.com/office/powerpoint/2010/main" val="8804709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FBB3DF8-9984-45D9-881C-F5D26F387F10}" type="datetimeFigureOut">
              <a:rPr lang="zh-CN" altLang="en-US" smtClean="0"/>
              <a:t>2020/11/19</a:t>
            </a:fld>
            <a:endParaRPr lang="zh-CN" alt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zh-CN" alt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8EAA53B-7C0E-4917-8C91-99D95BEF4936}" type="slidenum">
              <a:rPr lang="zh-CN" altLang="en-US" smtClean="0"/>
              <a:t>‹#›</a:t>
            </a:fld>
            <a:endParaRPr lang="zh-CN" altLang="en-US"/>
          </a:p>
        </p:txBody>
      </p:sp>
    </p:spTree>
    <p:extLst>
      <p:ext uri="{BB962C8B-B14F-4D97-AF65-F5344CB8AC3E}">
        <p14:creationId xmlns:p14="http://schemas.microsoft.com/office/powerpoint/2010/main" val="3177704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zh-CN"/>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4FBB3DF8-9984-45D9-881C-F5D26F387F10}" type="datetimeFigureOut">
              <a:rPr lang="zh-CN" altLang="en-US" smtClean="0"/>
              <a:t>2020/11/19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48EAA53B-7C0E-4917-8C91-99D95BEF4936}" type="slidenum">
              <a:rPr lang="zh-CN" altLang="en-US" smtClean="0"/>
              <a:t>‹#›</a:t>
            </a:fld>
            <a:endParaRPr lang="zh-CN" altLang="en-US"/>
          </a:p>
        </p:txBody>
      </p:sp>
    </p:spTree>
    <p:extLst>
      <p:ext uri="{BB962C8B-B14F-4D97-AF65-F5344CB8AC3E}">
        <p14:creationId xmlns:p14="http://schemas.microsoft.com/office/powerpoint/2010/main" val="32182273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4FBB3DF8-9984-45D9-881C-F5D26F387F10}" type="datetimeFigureOut">
              <a:rPr lang="zh-CN" altLang="en-US" smtClean="0"/>
              <a:t>2020/11/19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8EAA53B-7C0E-4917-8C91-99D95BEF4936}" type="slidenum">
              <a:rPr lang="zh-CN" altLang="en-US" smtClean="0"/>
              <a:t>‹#›</a:t>
            </a:fld>
            <a:endParaRPr lang="zh-CN" altLang="en-US"/>
          </a:p>
        </p:txBody>
      </p:sp>
    </p:spTree>
    <p:extLst>
      <p:ext uri="{BB962C8B-B14F-4D97-AF65-F5344CB8AC3E}">
        <p14:creationId xmlns:p14="http://schemas.microsoft.com/office/powerpoint/2010/main" val="21661387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4FBB3DF8-9984-45D9-881C-F5D26F387F10}" type="datetimeFigureOut">
              <a:rPr lang="zh-CN" altLang="en-US" smtClean="0"/>
              <a:t>2020/11/19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8EAA53B-7C0E-4917-8C91-99D95BEF4936}" type="slidenum">
              <a:rPr lang="zh-CN" altLang="en-US" smtClean="0"/>
              <a:t>‹#›</a:t>
            </a:fld>
            <a:endParaRPr lang="zh-CN" altLang="en-US"/>
          </a:p>
        </p:txBody>
      </p:sp>
    </p:spTree>
    <p:extLst>
      <p:ext uri="{BB962C8B-B14F-4D97-AF65-F5344CB8AC3E}">
        <p14:creationId xmlns:p14="http://schemas.microsoft.com/office/powerpoint/2010/main" val="29549406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FBB3DF8-9984-45D9-881C-F5D26F387F10}" type="datetimeFigureOut">
              <a:rPr lang="zh-CN" altLang="en-US" smtClean="0"/>
              <a:t>2020/11/19</a:t>
            </a:fld>
            <a:endParaRPr lang="zh-CN" alt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zh-CN" alt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8EAA53B-7C0E-4917-8C91-99D95BEF4936}" type="slidenum">
              <a:rPr lang="zh-CN" altLang="en-US" smtClean="0"/>
              <a:t>‹#›</a:t>
            </a:fld>
            <a:endParaRPr lang="zh-CN" alt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88762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5F71B-10F4-4EF8-A77F-3CBABB53EA0B}"/>
              </a:ext>
            </a:extLst>
          </p:cNvPr>
          <p:cNvSpPr>
            <a:spLocks noGrp="1"/>
          </p:cNvSpPr>
          <p:nvPr>
            <p:ph type="ctrTitle"/>
          </p:nvPr>
        </p:nvSpPr>
        <p:spPr>
          <a:xfrm>
            <a:off x="1600200" y="541782"/>
            <a:ext cx="10058400" cy="3566160"/>
          </a:xfrm>
        </p:spPr>
        <p:txBody>
          <a:bodyPr/>
          <a:lstStyle/>
          <a:p>
            <a:r>
              <a:rPr lang="en-US" altLang="zh-CN" dirty="0">
                <a:solidFill>
                  <a:schemeClr val="tx1">
                    <a:lumMod val="95000"/>
                    <a:lumOff val="5000"/>
                  </a:schemeClr>
                </a:solidFill>
                <a:latin typeface="Times New Roman" panose="02020603050405020304" pitchFamily="18" charset="0"/>
                <a:cs typeface="Times New Roman" panose="02020603050405020304" pitchFamily="18" charset="0"/>
              </a:rPr>
              <a:t>Vehicle Data Analysis</a:t>
            </a:r>
            <a:endParaRPr lang="zh-CN" alt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1DF81FBD-FE06-4B96-A581-970AF4D50A12}"/>
              </a:ext>
            </a:extLst>
          </p:cNvPr>
          <p:cNvSpPr>
            <a:spLocks noGrp="1"/>
          </p:cNvSpPr>
          <p:nvPr>
            <p:ph type="subTitle" idx="1"/>
          </p:nvPr>
        </p:nvSpPr>
        <p:spPr>
          <a:xfrm>
            <a:off x="2791968" y="5193094"/>
            <a:ext cx="9253728" cy="1664906"/>
          </a:xfrm>
        </p:spPr>
        <p:txBody>
          <a:bodyPr/>
          <a:lstStyle/>
          <a:p>
            <a:pPr algn="r"/>
            <a:r>
              <a:rPr lang="en-US" altLang="zh-CN" sz="1800" dirty="0">
                <a:solidFill>
                  <a:schemeClr val="tx1"/>
                </a:solidFill>
                <a:latin typeface="Times New Roman" panose="02020603050405020304" pitchFamily="18" charset="0"/>
                <a:ea typeface="等线" panose="02010600030101010101" pitchFamily="2" charset="-122"/>
                <a:cs typeface="Times New Roman" panose="02020603050405020304" pitchFamily="18" charset="0"/>
              </a:rPr>
              <a:t>IST 718</a:t>
            </a:r>
          </a:p>
          <a:p>
            <a:pPr algn="r"/>
            <a:r>
              <a:rPr lang="en-US" altLang="zh-CN" sz="1800" dirty="0">
                <a:solidFill>
                  <a:schemeClr val="tx1"/>
                </a:solidFill>
                <a:latin typeface="Times New Roman" panose="02020603050405020304" pitchFamily="18" charset="0"/>
                <a:ea typeface="等线" panose="02010600030101010101" pitchFamily="2" charset="-122"/>
                <a:cs typeface="Times New Roman" panose="02020603050405020304" pitchFamily="18" charset="0"/>
              </a:rPr>
              <a:t>Group12</a:t>
            </a:r>
          </a:p>
          <a:p>
            <a:pPr algn="r"/>
            <a:r>
              <a:rPr lang="en-US" altLang="zh-CN" sz="18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rPr>
              <a:t>Matt McDonnell, Ji Ma, </a:t>
            </a:r>
            <a:r>
              <a:rPr lang="en-US" altLang="zh-CN" sz="1800" dirty="0" err="1">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rPr>
              <a:t>Zhongwei</a:t>
            </a:r>
            <a:r>
              <a:rPr lang="en-US" altLang="zh-CN" sz="18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rPr>
              <a:t> Chen</a:t>
            </a:r>
            <a:endParaRPr lang="zh-CN" altLang="zh-CN" sz="18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2094152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E63C2-6CF1-4A50-80BD-7B3B5F7283A1}"/>
              </a:ext>
            </a:extLst>
          </p:cNvPr>
          <p:cNvSpPr>
            <a:spLocks noGrp="1"/>
          </p:cNvSpPr>
          <p:nvPr>
            <p:ph type="title"/>
          </p:nvPr>
        </p:nvSpPr>
        <p:spPr/>
        <p:txBody>
          <a:bodyPr/>
          <a:lstStyle/>
          <a:p>
            <a:r>
              <a:rPr lang="en-US" altLang="zh-CN" dirty="0">
                <a:solidFill>
                  <a:schemeClr val="tx1">
                    <a:lumMod val="95000"/>
                    <a:lumOff val="5000"/>
                  </a:schemeClr>
                </a:solidFill>
                <a:latin typeface="Times New Roman" panose="02020603050405020304" pitchFamily="18" charset="0"/>
                <a:cs typeface="Times New Roman" panose="02020603050405020304" pitchFamily="18" charset="0"/>
              </a:rPr>
              <a:t>Overview</a:t>
            </a:r>
            <a:endParaRPr lang="zh-CN" alt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ABA90D4-80A7-4C1F-B710-063506DE96BB}"/>
              </a:ext>
            </a:extLst>
          </p:cNvPr>
          <p:cNvSpPr>
            <a:spLocks noGrp="1"/>
          </p:cNvSpPr>
          <p:nvPr>
            <p:ph idx="1"/>
          </p:nvPr>
        </p:nvSpPr>
        <p:spPr>
          <a:xfrm>
            <a:off x="1097280" y="1845733"/>
            <a:ext cx="6675120" cy="4434751"/>
          </a:xfrm>
        </p:spPr>
        <p:txBody>
          <a:bodyPr/>
          <a:lstStyle/>
          <a:p>
            <a:r>
              <a:rPr lang="en-US" altLang="zh-CN" b="1" dirty="0">
                <a:solidFill>
                  <a:schemeClr val="tx1">
                    <a:lumMod val="95000"/>
                    <a:lumOff val="5000"/>
                  </a:schemeClr>
                </a:solidFill>
                <a:latin typeface="Times New Roman" panose="02020603050405020304" pitchFamily="18" charset="0"/>
                <a:cs typeface="Times New Roman" panose="02020603050405020304" pitchFamily="18" charset="0"/>
              </a:rPr>
              <a:t>Problem Statement: </a:t>
            </a:r>
            <a:r>
              <a:rPr lang="en-US" altLang="zh-CN" dirty="0">
                <a:solidFill>
                  <a:schemeClr val="tx1">
                    <a:lumMod val="95000"/>
                    <a:lumOff val="5000"/>
                  </a:schemeClr>
                </a:solidFill>
                <a:latin typeface="Times New Roman" panose="02020603050405020304" pitchFamily="18" charset="0"/>
                <a:cs typeface="Times New Roman" panose="02020603050405020304" pitchFamily="18" charset="0"/>
              </a:rPr>
              <a:t>How can car shoppers and manufacturers benefit from identifying aspects of cost savings and consumer buying selection process?</a:t>
            </a:r>
          </a:p>
          <a:p>
            <a:r>
              <a:rPr lang="en-US" altLang="zh-CN" b="1" dirty="0">
                <a:solidFill>
                  <a:schemeClr val="tx1">
                    <a:lumMod val="95000"/>
                    <a:lumOff val="5000"/>
                  </a:schemeClr>
                </a:solidFill>
                <a:latin typeface="Times New Roman" panose="02020603050405020304" pitchFamily="18" charset="0"/>
                <a:cs typeface="Times New Roman" panose="02020603050405020304" pitchFamily="18" charset="0"/>
              </a:rPr>
              <a:t>Why?</a:t>
            </a:r>
          </a:p>
          <a:p>
            <a:pPr>
              <a:buFont typeface="Arial" panose="020B0604020202020204" pitchFamily="34" charset="0"/>
              <a:buChar char="•"/>
            </a:pPr>
            <a:r>
              <a:rPr lang="en-US" altLang="zh-CN" dirty="0">
                <a:solidFill>
                  <a:schemeClr val="tx1">
                    <a:lumMod val="95000"/>
                    <a:lumOff val="5000"/>
                  </a:schemeClr>
                </a:solidFill>
                <a:latin typeface="Times New Roman" panose="02020603050405020304" pitchFamily="18" charset="0"/>
                <a:cs typeface="Times New Roman" panose="02020603050405020304" pitchFamily="18" charset="0"/>
              </a:rPr>
              <a:t> Average Americans spend over $2,000 a year on their vehicles in just gas costs</a:t>
            </a:r>
          </a:p>
          <a:p>
            <a:pPr>
              <a:buFont typeface="Arial" panose="020B0604020202020204" pitchFamily="34" charset="0"/>
              <a:buChar char="•"/>
            </a:pPr>
            <a:r>
              <a:rPr lang="en-US" altLang="zh-CN" dirty="0">
                <a:solidFill>
                  <a:schemeClr val="tx1">
                    <a:lumMod val="95000"/>
                    <a:lumOff val="5000"/>
                  </a:schemeClr>
                </a:solidFill>
                <a:latin typeface="Times New Roman" panose="02020603050405020304" pitchFamily="18" charset="0"/>
                <a:cs typeface="Times New Roman" panose="02020603050405020304" pitchFamily="18" charset="0"/>
              </a:rPr>
              <a:t> New government policies are mandating reductions in fuel emissions, thus driving gas costs up</a:t>
            </a:r>
          </a:p>
          <a:p>
            <a:pPr>
              <a:buFont typeface="Arial" panose="020B0604020202020204" pitchFamily="34" charset="0"/>
              <a:buChar char="•"/>
            </a:pPr>
            <a:r>
              <a:rPr lang="en-US" altLang="zh-CN" dirty="0">
                <a:solidFill>
                  <a:schemeClr val="tx1">
                    <a:lumMod val="95000"/>
                    <a:lumOff val="5000"/>
                  </a:schemeClr>
                </a:solidFill>
                <a:latin typeface="Times New Roman" panose="02020603050405020304" pitchFamily="18" charset="0"/>
                <a:cs typeface="Times New Roman" panose="02020603050405020304" pitchFamily="18" charset="0"/>
              </a:rPr>
              <a:t> Gas cars are projected to lose significant market share by 2030</a:t>
            </a:r>
          </a:p>
          <a:p>
            <a:pPr>
              <a:buFont typeface="Arial" panose="020B0604020202020204" pitchFamily="34" charset="0"/>
              <a:buChar char="•"/>
            </a:pPr>
            <a:r>
              <a:rPr lang="en-US" altLang="zh-CN" dirty="0">
                <a:solidFill>
                  <a:schemeClr val="tx1">
                    <a:lumMod val="95000"/>
                    <a:lumOff val="5000"/>
                  </a:schemeClr>
                </a:solidFill>
                <a:latin typeface="Times New Roman" panose="02020603050405020304" pitchFamily="18" charset="0"/>
                <a:cs typeface="Times New Roman" panose="02020603050405020304" pitchFamily="18" charset="0"/>
              </a:rPr>
              <a:t> Consumers are taking their carbon footprint and fuel costs into account more than ever with the emergence of more prevalent alternative technologies</a:t>
            </a:r>
            <a:endParaRPr lang="zh-CN" alt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graphicFrame>
        <p:nvGraphicFramePr>
          <p:cNvPr id="4" name="Chart 3">
            <a:extLst>
              <a:ext uri="{FF2B5EF4-FFF2-40B4-BE49-F238E27FC236}">
                <a16:creationId xmlns:a16="http://schemas.microsoft.com/office/drawing/2014/main" id="{9B097375-14AB-294E-9CA8-E5C84C2D8B44}"/>
              </a:ext>
            </a:extLst>
          </p:cNvPr>
          <p:cNvGraphicFramePr/>
          <p:nvPr/>
        </p:nvGraphicFramePr>
        <p:xfrm>
          <a:off x="7772400" y="3086100"/>
          <a:ext cx="4013329" cy="319438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595396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F5BE4-22B1-7B40-A91A-91098A713793}"/>
              </a:ext>
            </a:extLst>
          </p:cNvPr>
          <p:cNvSpPr>
            <a:spLocks noGrp="1"/>
          </p:cNvSpPr>
          <p:nvPr>
            <p:ph type="title"/>
          </p:nvPr>
        </p:nvSpPr>
        <p:spPr/>
        <p:txBody>
          <a:bodyPr/>
          <a:lstStyle/>
          <a:p>
            <a:r>
              <a:rPr lang="en-US" dirty="0">
                <a:solidFill>
                  <a:schemeClr val="tx1">
                    <a:lumMod val="95000"/>
                    <a:lumOff val="5000"/>
                  </a:schemeClr>
                </a:solidFill>
                <a:latin typeface="Times New Roman" panose="02020603050405020304" pitchFamily="18" charset="0"/>
                <a:cs typeface="Times New Roman" panose="02020603050405020304" pitchFamily="18" charset="0"/>
              </a:rPr>
              <a:t>Dataset Introduction</a:t>
            </a:r>
          </a:p>
        </p:txBody>
      </p:sp>
      <p:sp>
        <p:nvSpPr>
          <p:cNvPr id="4" name="TextBox 3">
            <a:extLst>
              <a:ext uri="{FF2B5EF4-FFF2-40B4-BE49-F238E27FC236}">
                <a16:creationId xmlns:a16="http://schemas.microsoft.com/office/drawing/2014/main" id="{88D48A00-2CF4-E640-8343-645D2F5E9D3C}"/>
              </a:ext>
            </a:extLst>
          </p:cNvPr>
          <p:cNvSpPr txBox="1"/>
          <p:nvPr/>
        </p:nvSpPr>
        <p:spPr>
          <a:xfrm>
            <a:off x="658836" y="2413337"/>
            <a:ext cx="5777133" cy="2585323"/>
          </a:xfrm>
          <a:prstGeom prst="rect">
            <a:avLst/>
          </a:prstGeom>
          <a:noFill/>
        </p:spPr>
        <p:txBody>
          <a:bodyPr wrap="square" rtlCol="0">
            <a:spAutoFit/>
          </a:bodyPr>
          <a:lstStyle/>
          <a:p>
            <a:pPr marL="285750" indent="-28575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youSaveSpend</a:t>
            </a:r>
            <a:r>
              <a:rPr lang="en-US" dirty="0">
                <a:latin typeface="Times New Roman" panose="02020603050405020304" pitchFamily="18" charset="0"/>
                <a:cs typeface="Times New Roman" panose="02020603050405020304" pitchFamily="18" charset="0"/>
              </a:rPr>
              <a:t>: save/spend over 5 years compared to an average car, savings are positive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CO2 Tailpipe GPM: tailpipe CO2 in grams/mile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Barrels08: annual petroleum consumption in barrels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Cylinders: number of engine cylinders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Make: vehicle manufacturer</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Model: vehicle model name</a:t>
            </a:r>
          </a:p>
          <a:p>
            <a:pPr marL="285750" indent="-28575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Displ</a:t>
            </a:r>
            <a:r>
              <a:rPr lang="en-US" dirty="0">
                <a:latin typeface="Times New Roman" panose="02020603050405020304" pitchFamily="18" charset="0"/>
                <a:cs typeface="Times New Roman" panose="02020603050405020304" pitchFamily="18" charset="0"/>
              </a:rPr>
              <a:t>: engine displacement in liters </a:t>
            </a:r>
          </a:p>
          <a:p>
            <a:pPr marL="285750" indent="-28575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Trany</a:t>
            </a:r>
            <a:r>
              <a:rPr lang="en-US" dirty="0">
                <a:latin typeface="Times New Roman" panose="02020603050405020304" pitchFamily="18" charset="0"/>
                <a:cs typeface="Times New Roman" panose="02020603050405020304" pitchFamily="18" charset="0"/>
              </a:rPr>
              <a:t>: transmission gear box</a:t>
            </a:r>
          </a:p>
        </p:txBody>
      </p:sp>
      <p:pic>
        <p:nvPicPr>
          <p:cNvPr id="8" name="Picture 7" descr="Chart, bar chart&#10;&#10;Description automatically generated">
            <a:extLst>
              <a:ext uri="{FF2B5EF4-FFF2-40B4-BE49-F238E27FC236}">
                <a16:creationId xmlns:a16="http://schemas.microsoft.com/office/drawing/2014/main" id="{FA7796C2-49E8-C349-9D5D-1A4FDCA8A0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11816" y="2168769"/>
            <a:ext cx="5135161" cy="3669323"/>
          </a:xfrm>
          <a:prstGeom prst="rect">
            <a:avLst/>
          </a:prstGeom>
        </p:spPr>
      </p:pic>
    </p:spTree>
    <p:extLst>
      <p:ext uri="{BB962C8B-B14F-4D97-AF65-F5344CB8AC3E}">
        <p14:creationId xmlns:p14="http://schemas.microsoft.com/office/powerpoint/2010/main" val="7001902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8C054-1270-4EEA-83D1-F0FC089AA10E}"/>
              </a:ext>
            </a:extLst>
          </p:cNvPr>
          <p:cNvSpPr>
            <a:spLocks noGrp="1"/>
          </p:cNvSpPr>
          <p:nvPr>
            <p:ph type="title"/>
          </p:nvPr>
        </p:nvSpPr>
        <p:spPr>
          <a:xfrm>
            <a:off x="1145238" y="287749"/>
            <a:ext cx="10058400" cy="1450757"/>
          </a:xfrm>
        </p:spPr>
        <p:txBody>
          <a:bodyPr/>
          <a:lstStyle/>
          <a:p>
            <a:r>
              <a:rPr lang="en-US" altLang="zh-CN" dirty="0">
                <a:solidFill>
                  <a:schemeClr val="tx1">
                    <a:lumMod val="95000"/>
                    <a:lumOff val="5000"/>
                  </a:schemeClr>
                </a:solidFill>
                <a:latin typeface="Times New Roman" panose="02020603050405020304" pitchFamily="18" charset="0"/>
                <a:cs typeface="Times New Roman" panose="02020603050405020304" pitchFamily="18" charset="0"/>
              </a:rPr>
              <a:t>Data exploration</a:t>
            </a:r>
            <a:endParaRPr lang="zh-CN" alt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4" name="Content Placeholder 3" descr="A close up of a screen&#10;&#10;Description automatically generated">
            <a:extLst>
              <a:ext uri="{FF2B5EF4-FFF2-40B4-BE49-F238E27FC236}">
                <a16:creationId xmlns:a16="http://schemas.microsoft.com/office/drawing/2014/main" id="{F6903A6D-2DA0-43AF-B5D1-3212F355C757}"/>
              </a:ext>
            </a:extLst>
          </p:cNvPr>
          <p:cNvPicPr>
            <a:picLocks noGrp="1"/>
          </p:cNvPicPr>
          <p:nvPr>
            <p:ph idx="1"/>
          </p:nvPr>
        </p:nvPicPr>
        <p:blipFill>
          <a:blip r:embed="rId3" cstate="print">
            <a:extLst>
              <a:ext uri="{28A0092B-C50C-407E-A947-70E740481C1C}">
                <a14:useLocalDpi xmlns:a14="http://schemas.microsoft.com/office/drawing/2010/main" val="0"/>
              </a:ext>
            </a:extLst>
          </a:blip>
          <a:stretch>
            <a:fillRect/>
          </a:stretch>
        </p:blipFill>
        <p:spPr>
          <a:xfrm>
            <a:off x="1097280" y="1949874"/>
            <a:ext cx="4022725" cy="4022725"/>
          </a:xfrm>
          <a:prstGeom prst="rect">
            <a:avLst/>
          </a:prstGeom>
        </p:spPr>
      </p:pic>
      <p:pic>
        <p:nvPicPr>
          <p:cNvPr id="7" name="Picture 6">
            <a:extLst>
              <a:ext uri="{FF2B5EF4-FFF2-40B4-BE49-F238E27FC236}">
                <a16:creationId xmlns:a16="http://schemas.microsoft.com/office/drawing/2014/main" id="{EB33F9A9-AB14-4EAC-8F82-3F3B4D839C1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73760" y="2449524"/>
            <a:ext cx="3502059" cy="3240445"/>
          </a:xfrm>
          <a:prstGeom prst="rect">
            <a:avLst/>
          </a:prstGeom>
        </p:spPr>
      </p:pic>
      <p:sp>
        <p:nvSpPr>
          <p:cNvPr id="9" name="TextBox 8">
            <a:extLst>
              <a:ext uri="{FF2B5EF4-FFF2-40B4-BE49-F238E27FC236}">
                <a16:creationId xmlns:a16="http://schemas.microsoft.com/office/drawing/2014/main" id="{C76ED1A8-51C4-4AEC-AFEF-2895F90462EF}"/>
              </a:ext>
            </a:extLst>
          </p:cNvPr>
          <p:cNvSpPr txBox="1"/>
          <p:nvPr/>
        </p:nvSpPr>
        <p:spPr>
          <a:xfrm>
            <a:off x="5850882" y="2022223"/>
            <a:ext cx="4022724" cy="369332"/>
          </a:xfrm>
          <a:prstGeom prst="rect">
            <a:avLst/>
          </a:prstGeom>
          <a:noFill/>
        </p:spPr>
        <p:txBody>
          <a:bodyPr wrap="square" rtlCol="0">
            <a:spAutoFit/>
          </a:bodyPr>
          <a:lstStyle/>
          <a:p>
            <a:r>
              <a:rPr lang="en-US" altLang="zh-CN">
                <a:latin typeface="Times New Roman" panose="02020603050405020304" pitchFamily="18" charset="0"/>
                <a:cs typeface="Times New Roman" panose="02020603050405020304" pitchFamily="18" charset="0"/>
              </a:rPr>
              <a:t>Displacement vs YouSaveSpend</a:t>
            </a:r>
            <a:endParaRPr lang="zh-CN" altLang="en-US" dirty="0">
              <a:latin typeface="Times New Roman" panose="02020603050405020304" pitchFamily="18" charset="0"/>
              <a:cs typeface="Times New Roman" panose="02020603050405020304" pitchFamily="18" charset="0"/>
            </a:endParaRPr>
          </a:p>
        </p:txBody>
      </p:sp>
      <p:pic>
        <p:nvPicPr>
          <p:cNvPr id="15" name="Picture 14" descr="Chart, histogram, scatter chart&#10;&#10;Description automatically generated">
            <a:extLst>
              <a:ext uri="{FF2B5EF4-FFF2-40B4-BE49-F238E27FC236}">
                <a16:creationId xmlns:a16="http://schemas.microsoft.com/office/drawing/2014/main" id="{64481B60-9381-4978-9E67-890483D1E89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31747" y="2562404"/>
            <a:ext cx="3159812" cy="3014684"/>
          </a:xfrm>
          <a:prstGeom prst="rect">
            <a:avLst/>
          </a:prstGeom>
        </p:spPr>
      </p:pic>
      <p:sp>
        <p:nvSpPr>
          <p:cNvPr id="16" name="TextBox 15">
            <a:extLst>
              <a:ext uri="{FF2B5EF4-FFF2-40B4-BE49-F238E27FC236}">
                <a16:creationId xmlns:a16="http://schemas.microsoft.com/office/drawing/2014/main" id="{D4CCE9AD-D2F5-410F-8BA7-81AAA0BD0396}"/>
              </a:ext>
            </a:extLst>
          </p:cNvPr>
          <p:cNvSpPr txBox="1"/>
          <p:nvPr/>
        </p:nvSpPr>
        <p:spPr>
          <a:xfrm>
            <a:off x="8975819" y="2006497"/>
            <a:ext cx="2610844"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Displacement vs Tailpipe</a:t>
            </a:r>
            <a:endParaRPr lang="zh-CN" altLang="en-US" dirty="0">
              <a:latin typeface="Times New Roman" panose="02020603050405020304" pitchFamily="18" charset="0"/>
              <a:cs typeface="Times New Roman" panose="02020603050405020304" pitchFamily="18" charset="0"/>
            </a:endParaRPr>
          </a:p>
        </p:txBody>
      </p:sp>
      <p:sp>
        <p:nvSpPr>
          <p:cNvPr id="17" name="Oval 16">
            <a:extLst>
              <a:ext uri="{FF2B5EF4-FFF2-40B4-BE49-F238E27FC236}">
                <a16:creationId xmlns:a16="http://schemas.microsoft.com/office/drawing/2014/main" id="{70C4E88B-F04F-473A-ACD1-2EAE24307C5C}"/>
              </a:ext>
            </a:extLst>
          </p:cNvPr>
          <p:cNvSpPr/>
          <p:nvPr/>
        </p:nvSpPr>
        <p:spPr>
          <a:xfrm>
            <a:off x="2922243" y="5448034"/>
            <a:ext cx="511553" cy="44760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Oval 17">
            <a:extLst>
              <a:ext uri="{FF2B5EF4-FFF2-40B4-BE49-F238E27FC236}">
                <a16:creationId xmlns:a16="http://schemas.microsoft.com/office/drawing/2014/main" id="{783E4F7B-8CEC-44A0-89AC-D5D4C4959FE0}"/>
              </a:ext>
            </a:extLst>
          </p:cNvPr>
          <p:cNvSpPr/>
          <p:nvPr/>
        </p:nvSpPr>
        <p:spPr>
          <a:xfrm>
            <a:off x="2941426" y="2876418"/>
            <a:ext cx="511553" cy="44760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099321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E82AF-B393-49AA-8010-4C3295C5FB73}"/>
              </a:ext>
            </a:extLst>
          </p:cNvPr>
          <p:cNvSpPr>
            <a:spLocks noGrp="1"/>
          </p:cNvSpPr>
          <p:nvPr>
            <p:ph type="title"/>
          </p:nvPr>
        </p:nvSpPr>
        <p:spPr>
          <a:xfrm>
            <a:off x="838200" y="263527"/>
            <a:ext cx="10058400" cy="1450757"/>
          </a:xfrm>
        </p:spPr>
        <p:txBody>
          <a:bodyPr/>
          <a:lstStyle/>
          <a:p>
            <a:r>
              <a:rPr lang="en-US" altLang="zh-CN" dirty="0">
                <a:solidFill>
                  <a:schemeClr val="tx1">
                    <a:lumMod val="95000"/>
                    <a:lumOff val="5000"/>
                  </a:schemeClr>
                </a:solidFill>
                <a:latin typeface="Times New Roman" panose="02020603050405020304" pitchFamily="18" charset="0"/>
                <a:cs typeface="Times New Roman" panose="02020603050405020304" pitchFamily="18" charset="0"/>
              </a:rPr>
              <a:t>Project Goals </a:t>
            </a:r>
            <a:endParaRPr lang="zh-CN" alt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F8B6EC5-EBBA-4CA3-9CA9-233F82CA01E4}"/>
              </a:ext>
            </a:extLst>
          </p:cNvPr>
          <p:cNvSpPr>
            <a:spLocks noGrp="1"/>
          </p:cNvSpPr>
          <p:nvPr>
            <p:ph idx="1"/>
          </p:nvPr>
        </p:nvSpPr>
        <p:spPr>
          <a:xfrm>
            <a:off x="1066800" y="2042362"/>
            <a:ext cx="10058400" cy="4023360"/>
          </a:xfrm>
        </p:spPr>
        <p:txBody>
          <a:bodyPr/>
          <a:lstStyle/>
          <a:p>
            <a:pPr marL="0" indent="0">
              <a:buNone/>
            </a:pPr>
            <a:r>
              <a:rPr lang="en-US" altLang="zh-CN" b="1" u="sng"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Prediction (</a:t>
            </a:r>
            <a:r>
              <a:rPr lang="en-US" altLang="zh-CN" b="1" u="sng"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Cost Savings)</a:t>
            </a:r>
          </a:p>
          <a:p>
            <a:pPr>
              <a:buFont typeface="Arial" panose="020B0604020202020204" pitchFamily="34" charset="0"/>
              <a:buChar char="•"/>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What kind of vehicle features can possibly generate lower costs for customers in 5 years after purchasing the vehicle?</a:t>
            </a:r>
            <a:endParaRPr lang="en-US" altLang="zh-CN"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r>
              <a:rPr lang="en-US" altLang="zh-CN" b="1" u="sng" dirty="0">
                <a:solidFill>
                  <a:schemeClr val="tx1">
                    <a:lumMod val="95000"/>
                    <a:lumOff val="5000"/>
                  </a:schemeClr>
                </a:solidFill>
                <a:latin typeface="Times New Roman" panose="02020603050405020304" pitchFamily="18" charset="0"/>
                <a:cs typeface="Times New Roman" panose="02020603050405020304" pitchFamily="18" charset="0"/>
              </a:rPr>
              <a:t>Inference </a:t>
            </a:r>
            <a:r>
              <a:rPr lang="en-US" altLang="zh-CN" b="1" u="sng"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(Cost Savings)</a:t>
            </a:r>
            <a:endParaRPr lang="en-US" altLang="zh-CN" b="1" u="sng" dirty="0">
              <a:solidFill>
                <a:schemeClr val="tx1">
                  <a:lumMod val="95000"/>
                  <a:lumOff val="5000"/>
                </a:schemeClr>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zh-CN" dirty="0">
                <a:solidFill>
                  <a:schemeClr val="tx1">
                    <a:lumMod val="95000"/>
                    <a:lumOff val="5000"/>
                  </a:schemeClr>
                </a:solidFill>
                <a:latin typeface="Times New Roman" panose="02020603050405020304" pitchFamily="18" charset="0"/>
                <a:cs typeface="Times New Roman" panose="02020603050405020304" pitchFamily="18" charset="0"/>
              </a:rPr>
              <a:t> We predict that some of the most likely variables will be displacement, fuel cost, cylinders, and fuel type.</a:t>
            </a:r>
          </a:p>
          <a:p>
            <a:pPr marL="0" indent="0">
              <a:buNone/>
            </a:pPr>
            <a:endParaRPr lang="en-US" altLang="zh-CN"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54681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E82AF-B393-49AA-8010-4C3295C5FB73}"/>
              </a:ext>
            </a:extLst>
          </p:cNvPr>
          <p:cNvSpPr>
            <a:spLocks noGrp="1"/>
          </p:cNvSpPr>
          <p:nvPr>
            <p:ph type="title"/>
          </p:nvPr>
        </p:nvSpPr>
        <p:spPr>
          <a:xfrm>
            <a:off x="838200" y="263527"/>
            <a:ext cx="10058400" cy="1450757"/>
          </a:xfrm>
        </p:spPr>
        <p:txBody>
          <a:bodyPr/>
          <a:lstStyle/>
          <a:p>
            <a:r>
              <a:rPr lang="en-US" altLang="zh-CN" dirty="0">
                <a:solidFill>
                  <a:schemeClr val="tx1">
                    <a:lumMod val="95000"/>
                    <a:lumOff val="5000"/>
                  </a:schemeClr>
                </a:solidFill>
                <a:latin typeface="Times New Roman" panose="02020603050405020304" pitchFamily="18" charset="0"/>
                <a:cs typeface="Times New Roman" panose="02020603050405020304" pitchFamily="18" charset="0"/>
              </a:rPr>
              <a:t>Project Goals </a:t>
            </a:r>
            <a:endParaRPr lang="zh-CN" alt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F8B6EC5-EBBA-4CA3-9CA9-233F82CA01E4}"/>
              </a:ext>
            </a:extLst>
          </p:cNvPr>
          <p:cNvSpPr>
            <a:spLocks noGrp="1"/>
          </p:cNvSpPr>
          <p:nvPr>
            <p:ph idx="1"/>
          </p:nvPr>
        </p:nvSpPr>
        <p:spPr>
          <a:xfrm>
            <a:off x="1066800" y="2042362"/>
            <a:ext cx="10058400" cy="4023360"/>
          </a:xfrm>
        </p:spPr>
        <p:txBody>
          <a:bodyPr>
            <a:normAutofit/>
          </a:bodyPr>
          <a:lstStyle/>
          <a:p>
            <a:pPr marL="0" indent="0">
              <a:buNone/>
            </a:pPr>
            <a:r>
              <a:rPr lang="en-US" altLang="zh-CN" b="1" u="sng"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Prediction (CO2 Tailpipe Emissions)</a:t>
            </a:r>
          </a:p>
          <a:p>
            <a:pPr>
              <a:buFont typeface="Arial" panose="020B0604020202020204" pitchFamily="34" charset="0"/>
              <a:buChar char="•"/>
            </a:pPr>
            <a:r>
              <a:rPr lang="en-US" altLang="zh-CN" dirty="0">
                <a:solidFill>
                  <a:schemeClr val="tx1">
                    <a:lumMod val="95000"/>
                    <a:lumOff val="5000"/>
                  </a:schemeClr>
                </a:solidFill>
                <a:latin typeface="Times New Roman" panose="02020603050405020304" pitchFamily="18" charset="0"/>
                <a:cs typeface="Times New Roman" panose="02020603050405020304" pitchFamily="18" charset="0"/>
              </a:rPr>
              <a:t> What kind of vehicle features lead to high CO2 Tailpipe emissions?</a:t>
            </a:r>
          </a:p>
          <a:p>
            <a:pPr marL="0" indent="0">
              <a:buNone/>
            </a:pPr>
            <a:r>
              <a:rPr lang="en-US" altLang="zh-CN" b="1" u="sng" dirty="0">
                <a:solidFill>
                  <a:schemeClr val="tx1">
                    <a:lumMod val="95000"/>
                    <a:lumOff val="5000"/>
                  </a:schemeClr>
                </a:solidFill>
                <a:latin typeface="Times New Roman" panose="02020603050405020304" pitchFamily="18" charset="0"/>
                <a:cs typeface="Times New Roman" panose="02020603050405020304" pitchFamily="18" charset="0"/>
              </a:rPr>
              <a:t>Inference </a:t>
            </a:r>
            <a:r>
              <a:rPr lang="en-US" altLang="zh-CN" b="1" u="sng"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(CO2 Tailpipe Emissions)</a:t>
            </a:r>
            <a:endParaRPr lang="en-US" altLang="zh-CN" b="1" u="sng" dirty="0">
              <a:solidFill>
                <a:schemeClr val="tx1">
                  <a:lumMod val="95000"/>
                  <a:lumOff val="5000"/>
                </a:schemeClr>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zh-CN"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zh-CN" dirty="0">
                <a:solidFill>
                  <a:schemeClr val="tx1">
                    <a:lumMod val="95000"/>
                    <a:lumOff val="5000"/>
                  </a:schemeClr>
                </a:solidFill>
                <a:latin typeface="Times New Roman" panose="02020603050405020304" pitchFamily="18" charset="0"/>
                <a:cs typeface="Times New Roman" panose="02020603050405020304" pitchFamily="18" charset="0"/>
              </a:rPr>
              <a:t>We predict that some of the most likely variables will be consumption barrels, cylinders, and fuel type.</a:t>
            </a:r>
          </a:p>
          <a:p>
            <a:pPr>
              <a:buFont typeface="Arial" panose="020B0604020202020204" pitchFamily="34" charset="0"/>
              <a:buChar char="•"/>
            </a:pPr>
            <a:endParaRPr lang="en-US" altLang="zh-CN" dirty="0">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buNone/>
            </a:pPr>
            <a:endParaRPr lang="en-US" altLang="zh-CN"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3400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A9A588-1AD8-4815-A80D-26B8CC0909AF}"/>
              </a:ext>
            </a:extLst>
          </p:cNvPr>
          <p:cNvSpPr>
            <a:spLocks noGrp="1"/>
          </p:cNvSpPr>
          <p:nvPr>
            <p:ph idx="1"/>
          </p:nvPr>
        </p:nvSpPr>
        <p:spPr>
          <a:xfrm>
            <a:off x="1097280" y="1845734"/>
            <a:ext cx="4812030" cy="1281130"/>
          </a:xfrm>
        </p:spPr>
        <p:txBody>
          <a:bodyPr>
            <a:normAutofit fontScale="92500" lnSpcReduction="10000"/>
          </a:bodyPr>
          <a:lstStyle/>
          <a:p>
            <a:r>
              <a:rPr lang="en-US" altLang="zh-CN" dirty="0">
                <a:solidFill>
                  <a:schemeClr val="tx1">
                    <a:lumMod val="95000"/>
                    <a:lumOff val="5000"/>
                  </a:schemeClr>
                </a:solidFill>
                <a:latin typeface="Times New Roman" panose="02020603050405020304" pitchFamily="18" charset="0"/>
                <a:cs typeface="Times New Roman" panose="02020603050405020304" pitchFamily="18" charset="0"/>
              </a:rPr>
              <a:t>Results on Save/Spend in 5 years:</a:t>
            </a:r>
            <a:endParaRPr lang="zh-CN" altLang="zh-CN" sz="20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lvl="1"/>
            <a:r>
              <a:rPr lang="en-US" altLang="zh-CN" dirty="0">
                <a:solidFill>
                  <a:schemeClr val="tx1">
                    <a:lumMod val="95000"/>
                    <a:lumOff val="5000"/>
                  </a:schemeClr>
                </a:solidFill>
                <a:latin typeface="Times New Roman" panose="02020603050405020304" pitchFamily="18" charset="0"/>
                <a:cs typeface="Times New Roman" panose="02020603050405020304" pitchFamily="18" charset="0"/>
              </a:rPr>
              <a:t>MSE Training: 0.122</a:t>
            </a:r>
          </a:p>
          <a:p>
            <a:pPr lvl="1"/>
            <a:r>
              <a:rPr lang="en-US" altLang="zh-CN" dirty="0">
                <a:solidFill>
                  <a:schemeClr val="tx1">
                    <a:lumMod val="95000"/>
                    <a:lumOff val="5000"/>
                  </a:schemeClr>
                </a:solidFill>
                <a:latin typeface="Times New Roman" panose="02020603050405020304" pitchFamily="18" charset="0"/>
                <a:cs typeface="Times New Roman" panose="02020603050405020304" pitchFamily="18" charset="0"/>
              </a:rPr>
              <a:t>MSE Testing: 0.108</a:t>
            </a:r>
          </a:p>
          <a:p>
            <a:pPr lvl="1"/>
            <a:r>
              <a:rPr lang="en-US" altLang="zh-CN" dirty="0">
                <a:solidFill>
                  <a:schemeClr val="tx1">
                    <a:lumMod val="95000"/>
                    <a:lumOff val="5000"/>
                  </a:schemeClr>
                </a:solidFill>
                <a:latin typeface="Times New Roman" panose="02020603050405020304" pitchFamily="18" charset="0"/>
                <a:cs typeface="Times New Roman" panose="02020603050405020304" pitchFamily="18" charset="0"/>
              </a:rPr>
              <a:t>Weights on independent vehicle features:</a:t>
            </a:r>
          </a:p>
          <a:p>
            <a:pPr lvl="1"/>
            <a:endParaRPr lang="en-US" altLang="zh-CN" dirty="0">
              <a:solidFill>
                <a:schemeClr val="tx1">
                  <a:lumMod val="95000"/>
                  <a:lumOff val="5000"/>
                </a:schemeClr>
              </a:solidFill>
              <a:latin typeface="Times New Roman" panose="02020603050405020304" pitchFamily="18" charset="0"/>
              <a:cs typeface="Times New Roman" panose="02020603050405020304" pitchFamily="18" charset="0"/>
            </a:endParaRPr>
          </a:p>
          <a:p>
            <a:pPr lvl="1"/>
            <a:endParaRPr lang="en-US" altLang="zh-CN" dirty="0">
              <a:solidFill>
                <a:schemeClr val="tx1">
                  <a:lumMod val="95000"/>
                  <a:lumOff val="5000"/>
                </a:schemeClr>
              </a:solidFill>
              <a:latin typeface="Times New Roman" panose="02020603050405020304" pitchFamily="18" charset="0"/>
              <a:cs typeface="Times New Roman" panose="02020603050405020304" pitchFamily="18" charset="0"/>
            </a:endParaRPr>
          </a:p>
          <a:p>
            <a:pPr lvl="1"/>
            <a:endParaRPr lang="en-US" altLang="zh-CN" dirty="0">
              <a:solidFill>
                <a:schemeClr val="tx1">
                  <a:lumMod val="95000"/>
                  <a:lumOff val="5000"/>
                </a:schemeClr>
              </a:solidFill>
              <a:latin typeface="Times New Roman" panose="02020603050405020304" pitchFamily="18" charset="0"/>
              <a:cs typeface="Times New Roman" panose="02020603050405020304" pitchFamily="18" charset="0"/>
            </a:endParaRPr>
          </a:p>
          <a:p>
            <a:pPr marL="201168" lvl="1" indent="0">
              <a:buNone/>
            </a:pPr>
            <a:endParaRPr lang="en-US" altLang="zh-CN"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id="{0F6A64C6-052C-4D45-BA5C-CD8ED2D62E4E}"/>
              </a:ext>
            </a:extLst>
          </p:cNvPr>
          <p:cNvSpPr txBox="1">
            <a:spLocks noGrp="1"/>
          </p:cNvSpPr>
          <p:nvPr>
            <p:ph type="title"/>
          </p:nvPr>
        </p:nvSpPr>
        <p:spPr>
          <a:xfrm>
            <a:off x="1097280" y="719173"/>
            <a:ext cx="10058400" cy="112656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4400" dirty="0">
                <a:effectLst/>
                <a:latin typeface="Times New Roman" panose="02020603050405020304" pitchFamily="18" charset="0"/>
                <a:ea typeface="Calibri" panose="020F0502020204030204" pitchFamily="34" charset="0"/>
                <a:cs typeface="Times New Roman" panose="02020603050405020304" pitchFamily="18" charset="0"/>
              </a:rPr>
              <a:t>Prediction Outcomes</a:t>
            </a:r>
            <a:endParaRPr lang="zh-CN" altLang="zh-CN" sz="4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descr="Table&#10;&#10;Description automatically generated">
            <a:extLst>
              <a:ext uri="{FF2B5EF4-FFF2-40B4-BE49-F238E27FC236}">
                <a16:creationId xmlns:a16="http://schemas.microsoft.com/office/drawing/2014/main" id="{C7A160F2-8C31-A14C-B3AC-6590AB578F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86199" y="3189078"/>
            <a:ext cx="4071709" cy="3147384"/>
          </a:xfrm>
          <a:prstGeom prst="rect">
            <a:avLst/>
          </a:prstGeom>
        </p:spPr>
      </p:pic>
      <p:pic>
        <p:nvPicPr>
          <p:cNvPr id="8" name="Picture 7" descr="Table&#10;&#10;Description automatically generated">
            <a:extLst>
              <a:ext uri="{FF2B5EF4-FFF2-40B4-BE49-F238E27FC236}">
                <a16:creationId xmlns:a16="http://schemas.microsoft.com/office/drawing/2014/main" id="{9891FF18-A14C-2246-8CCE-D29A3610E2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7280" y="3189078"/>
            <a:ext cx="4071708" cy="3149387"/>
          </a:xfrm>
          <a:prstGeom prst="rect">
            <a:avLst/>
          </a:prstGeom>
        </p:spPr>
      </p:pic>
      <p:sp>
        <p:nvSpPr>
          <p:cNvPr id="14" name="Content Placeholder 2">
            <a:extLst>
              <a:ext uri="{FF2B5EF4-FFF2-40B4-BE49-F238E27FC236}">
                <a16:creationId xmlns:a16="http://schemas.microsoft.com/office/drawing/2014/main" id="{C33EBE38-FDC9-8C49-A024-B325E15E89B5}"/>
              </a:ext>
            </a:extLst>
          </p:cNvPr>
          <p:cNvSpPr txBox="1">
            <a:spLocks/>
          </p:cNvSpPr>
          <p:nvPr/>
        </p:nvSpPr>
        <p:spPr>
          <a:xfrm>
            <a:off x="6786199" y="1862668"/>
            <a:ext cx="4667251" cy="1343344"/>
          </a:xfrm>
          <a:prstGeom prst="rect">
            <a:avLst/>
          </a:prstGeom>
        </p:spPr>
        <p:txBody>
          <a:bodyPr vert="horz" lIns="0" tIns="45720" rIns="0" bIns="45720" rtlCol="0">
            <a:normAutofit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altLang="zh-CN" dirty="0">
                <a:solidFill>
                  <a:schemeClr val="tx1">
                    <a:lumMod val="95000"/>
                    <a:lumOff val="5000"/>
                  </a:schemeClr>
                </a:solidFill>
                <a:latin typeface="Times New Roman" panose="02020603050405020304" pitchFamily="18" charset="0"/>
                <a:cs typeface="Times New Roman" panose="02020603050405020304" pitchFamily="18" charset="0"/>
              </a:rPr>
              <a:t>Results on CO2 Tailpipe Emission:</a:t>
            </a:r>
            <a:endParaRPr lang="zh-CN" altLang="zh-CN"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endParaRPr>
          </a:p>
          <a:p>
            <a:pPr lvl="1"/>
            <a:r>
              <a:rPr lang="en-US" altLang="zh-CN" dirty="0">
                <a:solidFill>
                  <a:schemeClr val="tx1">
                    <a:lumMod val="95000"/>
                    <a:lumOff val="5000"/>
                  </a:schemeClr>
                </a:solidFill>
                <a:latin typeface="Times New Roman" panose="02020603050405020304" pitchFamily="18" charset="0"/>
                <a:cs typeface="Times New Roman" panose="02020603050405020304" pitchFamily="18" charset="0"/>
              </a:rPr>
              <a:t>MSE Training: </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2447.511</a:t>
            </a:r>
            <a:endParaRPr lang="en-US" altLang="zh-CN" dirty="0">
              <a:solidFill>
                <a:schemeClr val="tx1">
                  <a:lumMod val="95000"/>
                  <a:lumOff val="5000"/>
                </a:schemeClr>
              </a:solidFill>
              <a:latin typeface="Times New Roman" panose="02020603050405020304" pitchFamily="18" charset="0"/>
              <a:cs typeface="Times New Roman" panose="02020603050405020304" pitchFamily="18" charset="0"/>
            </a:endParaRPr>
          </a:p>
          <a:p>
            <a:pPr lvl="1"/>
            <a:r>
              <a:rPr lang="en-US" altLang="zh-CN" dirty="0">
                <a:solidFill>
                  <a:schemeClr val="tx1">
                    <a:lumMod val="95000"/>
                    <a:lumOff val="5000"/>
                  </a:schemeClr>
                </a:solidFill>
                <a:latin typeface="Times New Roman" panose="02020603050405020304" pitchFamily="18" charset="0"/>
                <a:cs typeface="Times New Roman" panose="02020603050405020304" pitchFamily="18" charset="0"/>
              </a:rPr>
              <a:t>MSE Testing: </a:t>
            </a:r>
            <a:r>
              <a:rPr lang="en-US" dirty="0">
                <a:solidFill>
                  <a:schemeClr val="tx1">
                    <a:lumMod val="95000"/>
                    <a:lumOff val="5000"/>
                  </a:schemeClr>
                </a:solidFill>
                <a:latin typeface="Times New Roman" panose="02020603050405020304" pitchFamily="18" charset="0"/>
                <a:cs typeface="Times New Roman" panose="02020603050405020304" pitchFamily="18" charset="0"/>
              </a:rPr>
              <a:t>1936.808</a:t>
            </a:r>
            <a:endParaRPr lang="en-US" altLang="zh-CN" dirty="0">
              <a:solidFill>
                <a:schemeClr val="tx1">
                  <a:lumMod val="95000"/>
                  <a:lumOff val="5000"/>
                </a:schemeClr>
              </a:solidFill>
              <a:latin typeface="Times New Roman" panose="02020603050405020304" pitchFamily="18" charset="0"/>
              <a:cs typeface="Times New Roman" panose="02020603050405020304" pitchFamily="18" charset="0"/>
            </a:endParaRPr>
          </a:p>
          <a:p>
            <a:pPr lvl="1"/>
            <a:r>
              <a:rPr lang="en-US" altLang="zh-CN" dirty="0">
                <a:solidFill>
                  <a:schemeClr val="tx1">
                    <a:lumMod val="95000"/>
                    <a:lumOff val="5000"/>
                  </a:schemeClr>
                </a:solidFill>
                <a:latin typeface="Times New Roman" panose="02020603050405020304" pitchFamily="18" charset="0"/>
                <a:cs typeface="Times New Roman" panose="02020603050405020304" pitchFamily="18" charset="0"/>
              </a:rPr>
              <a:t>Weights on independent vehicle features:</a:t>
            </a:r>
          </a:p>
          <a:p>
            <a:pPr lvl="1"/>
            <a:endParaRPr lang="en-US" altLang="zh-CN" dirty="0">
              <a:solidFill>
                <a:schemeClr val="tx1">
                  <a:lumMod val="95000"/>
                  <a:lumOff val="5000"/>
                </a:schemeClr>
              </a:solidFill>
              <a:latin typeface="Times New Roman" panose="02020603050405020304" pitchFamily="18" charset="0"/>
              <a:cs typeface="Times New Roman" panose="02020603050405020304" pitchFamily="18" charset="0"/>
            </a:endParaRPr>
          </a:p>
          <a:p>
            <a:pPr lvl="1"/>
            <a:endParaRPr lang="en-US" altLang="zh-CN" dirty="0">
              <a:solidFill>
                <a:schemeClr val="tx1">
                  <a:lumMod val="95000"/>
                  <a:lumOff val="5000"/>
                </a:schemeClr>
              </a:solidFill>
              <a:latin typeface="Times New Roman" panose="02020603050405020304" pitchFamily="18" charset="0"/>
              <a:cs typeface="Times New Roman" panose="02020603050405020304" pitchFamily="18" charset="0"/>
            </a:endParaRPr>
          </a:p>
          <a:p>
            <a:pPr lvl="1"/>
            <a:endParaRPr lang="en-US" altLang="zh-CN" dirty="0">
              <a:solidFill>
                <a:schemeClr val="tx1">
                  <a:lumMod val="95000"/>
                  <a:lumOff val="5000"/>
                </a:schemeClr>
              </a:solidFill>
              <a:latin typeface="Times New Roman" panose="02020603050405020304" pitchFamily="18" charset="0"/>
              <a:cs typeface="Times New Roman" panose="02020603050405020304" pitchFamily="18" charset="0"/>
            </a:endParaRPr>
          </a:p>
          <a:p>
            <a:pPr marL="201168" lvl="1" indent="0">
              <a:buFont typeface="Calibri" pitchFamily="34" charset="0"/>
              <a:buNone/>
            </a:pPr>
            <a:endParaRPr lang="en-US" altLang="zh-CN"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64495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F6A64C6-052C-4D45-BA5C-CD8ED2D62E4E}"/>
              </a:ext>
            </a:extLst>
          </p:cNvPr>
          <p:cNvSpPr txBox="1">
            <a:spLocks noGrp="1"/>
          </p:cNvSpPr>
          <p:nvPr>
            <p:ph type="title"/>
          </p:nvPr>
        </p:nvSpPr>
        <p:spPr>
          <a:xfrm>
            <a:off x="1144598" y="396570"/>
            <a:ext cx="10058400" cy="14507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latin typeface="Times New Roman" panose="02020603050405020304" pitchFamily="18" charset="0"/>
                <a:cs typeface="Times New Roman" panose="02020603050405020304" pitchFamily="18" charset="0"/>
              </a:rPr>
              <a:t>Inference</a:t>
            </a:r>
            <a:endParaRPr lang="zh-CN" altLang="en-US"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F52CFBB-AE7A-48E6-96F7-ED37C7167002}"/>
              </a:ext>
            </a:extLst>
          </p:cNvPr>
          <p:cNvSpPr txBox="1"/>
          <p:nvPr/>
        </p:nvSpPr>
        <p:spPr>
          <a:xfrm>
            <a:off x="1234120" y="1911927"/>
            <a:ext cx="8773125"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PC1 and PC2 loading show which vehicle features are important for recommendations.  </a:t>
            </a:r>
            <a:endParaRPr lang="zh-CN" altLang="en-US"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404F61E-8724-4F44-B0A8-8C4BB342BD0F}"/>
              </a:ext>
            </a:extLst>
          </p:cNvPr>
          <p:cNvSpPr txBox="1"/>
          <p:nvPr/>
        </p:nvSpPr>
        <p:spPr>
          <a:xfrm>
            <a:off x="1929256" y="2345859"/>
            <a:ext cx="660199" cy="369332"/>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PC1</a:t>
            </a:r>
            <a:endParaRPr lang="zh-CN" altLang="en-US"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9353BBAB-19DB-4696-A4D1-2D7CA46745E6}"/>
              </a:ext>
            </a:extLst>
          </p:cNvPr>
          <p:cNvSpPr txBox="1"/>
          <p:nvPr/>
        </p:nvSpPr>
        <p:spPr>
          <a:xfrm>
            <a:off x="7420985" y="2345859"/>
            <a:ext cx="660199" cy="369332"/>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PC2</a:t>
            </a:r>
            <a:endParaRPr lang="zh-CN" altLang="en-US"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2FD151AE-F3B9-400B-AEC7-B5B23A3B841D}"/>
              </a:ext>
            </a:extLst>
          </p:cNvPr>
          <p:cNvPicPr>
            <a:picLocks noChangeAspect="1"/>
          </p:cNvPicPr>
          <p:nvPr/>
        </p:nvPicPr>
        <p:blipFill>
          <a:blip r:embed="rId2"/>
          <a:stretch>
            <a:fillRect/>
          </a:stretch>
        </p:blipFill>
        <p:spPr>
          <a:xfrm>
            <a:off x="992530" y="2715191"/>
            <a:ext cx="2533650" cy="3086100"/>
          </a:xfrm>
          <a:prstGeom prst="rect">
            <a:avLst/>
          </a:prstGeom>
        </p:spPr>
      </p:pic>
      <p:pic>
        <p:nvPicPr>
          <p:cNvPr id="15" name="Picture 14">
            <a:extLst>
              <a:ext uri="{FF2B5EF4-FFF2-40B4-BE49-F238E27FC236}">
                <a16:creationId xmlns:a16="http://schemas.microsoft.com/office/drawing/2014/main" id="{2C3BAD7B-9B7D-48E8-88B2-98C5C43583A1}"/>
              </a:ext>
            </a:extLst>
          </p:cNvPr>
          <p:cNvPicPr>
            <a:picLocks noChangeAspect="1"/>
          </p:cNvPicPr>
          <p:nvPr/>
        </p:nvPicPr>
        <p:blipFill>
          <a:blip r:embed="rId3"/>
          <a:stretch>
            <a:fillRect/>
          </a:stretch>
        </p:blipFill>
        <p:spPr>
          <a:xfrm>
            <a:off x="6305748" y="2715191"/>
            <a:ext cx="2686050" cy="3028950"/>
          </a:xfrm>
          <a:prstGeom prst="rect">
            <a:avLst/>
          </a:prstGeom>
        </p:spPr>
      </p:pic>
      <p:sp>
        <p:nvSpPr>
          <p:cNvPr id="16" name="Arrow: Down 15">
            <a:extLst>
              <a:ext uri="{FF2B5EF4-FFF2-40B4-BE49-F238E27FC236}">
                <a16:creationId xmlns:a16="http://schemas.microsoft.com/office/drawing/2014/main" id="{13AC17E9-781C-4F7D-A113-C36EA8A3D4F7}"/>
              </a:ext>
            </a:extLst>
          </p:cNvPr>
          <p:cNvSpPr/>
          <p:nvPr/>
        </p:nvSpPr>
        <p:spPr>
          <a:xfrm>
            <a:off x="3757717" y="3090272"/>
            <a:ext cx="333722" cy="16352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Arrow: Down 16">
            <a:extLst>
              <a:ext uri="{FF2B5EF4-FFF2-40B4-BE49-F238E27FC236}">
                <a16:creationId xmlns:a16="http://schemas.microsoft.com/office/drawing/2014/main" id="{805F7618-8561-4670-A593-6969D5C034FD}"/>
              </a:ext>
            </a:extLst>
          </p:cNvPr>
          <p:cNvSpPr/>
          <p:nvPr/>
        </p:nvSpPr>
        <p:spPr>
          <a:xfrm>
            <a:off x="9236657" y="3090272"/>
            <a:ext cx="333722" cy="16352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68610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0A6A4D-4F28-44AA-AF17-BB08967AB151}"/>
              </a:ext>
            </a:extLst>
          </p:cNvPr>
          <p:cNvSpPr>
            <a:spLocks noGrp="1"/>
          </p:cNvSpPr>
          <p:nvPr>
            <p:ph idx="1"/>
          </p:nvPr>
        </p:nvSpPr>
        <p:spPr>
          <a:xfrm>
            <a:off x="1036320" y="1736725"/>
            <a:ext cx="10058400" cy="4023360"/>
          </a:xfrm>
        </p:spPr>
        <p:txBody>
          <a:bodyPr/>
          <a:lstStyle/>
          <a:p>
            <a:r>
              <a:rPr lang="en-US" altLang="zh-CN" sz="2000" dirty="0">
                <a:solidFill>
                  <a:schemeClr val="tx1">
                    <a:lumMod val="95000"/>
                    <a:lumOff val="5000"/>
                  </a:schemeClr>
                </a:solidFill>
                <a:latin typeface="Times New Roman" panose="02020603050405020304" pitchFamily="18" charset="0"/>
                <a:cs typeface="Times New Roman" panose="02020603050405020304" pitchFamily="18" charset="0"/>
              </a:rPr>
              <a:t>Cluster Analysis</a:t>
            </a:r>
            <a:endParaRPr lang="zh-CN" altLang="en-US" sz="20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buNone/>
            </a:pPr>
            <a:endParaRPr lang="zh-CN" altLang="en-US" dirty="0">
              <a:solidFill>
                <a:schemeClr val="tx1">
                  <a:lumMod val="95000"/>
                  <a:lumOff val="5000"/>
                </a:schemeClr>
              </a:solidFill>
            </a:endParaRPr>
          </a:p>
        </p:txBody>
      </p:sp>
      <p:sp>
        <p:nvSpPr>
          <p:cNvPr id="4" name="Title 1">
            <a:extLst>
              <a:ext uri="{FF2B5EF4-FFF2-40B4-BE49-F238E27FC236}">
                <a16:creationId xmlns:a16="http://schemas.microsoft.com/office/drawing/2014/main" id="{7EE1D2DC-3AAA-46FB-A706-4AAB205F81B6}"/>
              </a:ext>
            </a:extLst>
          </p:cNvPr>
          <p:cNvSpPr txBox="1">
            <a:spLocks noGrp="1"/>
          </p:cNvSpPr>
          <p:nvPr>
            <p:ph type="title"/>
          </p:nvPr>
        </p:nvSpPr>
        <p:spPr>
          <a:xfrm>
            <a:off x="1066800" y="678905"/>
            <a:ext cx="10058400" cy="14493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latin typeface="Times New Roman" panose="02020603050405020304" pitchFamily="18" charset="0"/>
                <a:cs typeface="Times New Roman" panose="02020603050405020304" pitchFamily="18" charset="0"/>
              </a:rPr>
              <a:t>K-Means Cluster Analysis</a:t>
            </a:r>
            <a:endParaRPr lang="zh-CN" altLang="en-US"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C1DB1E1F-F077-4720-9178-561A22EDB2C2}"/>
              </a:ext>
            </a:extLst>
          </p:cNvPr>
          <p:cNvPicPr>
            <a:picLocks noChangeAspect="1"/>
          </p:cNvPicPr>
          <p:nvPr/>
        </p:nvPicPr>
        <p:blipFill>
          <a:blip r:embed="rId2"/>
          <a:stretch>
            <a:fillRect/>
          </a:stretch>
        </p:blipFill>
        <p:spPr>
          <a:xfrm>
            <a:off x="4046221" y="1770311"/>
            <a:ext cx="3660749" cy="4308930"/>
          </a:xfrm>
          <a:prstGeom prst="rect">
            <a:avLst/>
          </a:prstGeom>
        </p:spPr>
      </p:pic>
      <p:graphicFrame>
        <p:nvGraphicFramePr>
          <p:cNvPr id="9" name="Table 8">
            <a:extLst>
              <a:ext uri="{FF2B5EF4-FFF2-40B4-BE49-F238E27FC236}">
                <a16:creationId xmlns:a16="http://schemas.microsoft.com/office/drawing/2014/main" id="{F2EBA18E-991F-4DFB-8711-DAF3600C82B2}"/>
              </a:ext>
            </a:extLst>
          </p:cNvPr>
          <p:cNvGraphicFramePr>
            <a:graphicFrameLocks noGrp="1"/>
          </p:cNvGraphicFramePr>
          <p:nvPr>
            <p:extLst>
              <p:ext uri="{D42A27DB-BD31-4B8C-83A1-F6EECF244321}">
                <p14:modId xmlns:p14="http://schemas.microsoft.com/office/powerpoint/2010/main" val="791656487"/>
              </p:ext>
            </p:extLst>
          </p:nvPr>
        </p:nvGraphicFramePr>
        <p:xfrm>
          <a:off x="8128196" y="1937861"/>
          <a:ext cx="2966524" cy="1986915"/>
        </p:xfrm>
        <a:graphic>
          <a:graphicData uri="http://schemas.openxmlformats.org/drawingml/2006/table">
            <a:tbl>
              <a:tblPr firstRow="1">
                <a:tableStyleId>{F5AB1C69-6EDB-4FF4-983F-18BD219EF322}</a:tableStyleId>
              </a:tblPr>
              <a:tblGrid>
                <a:gridCol w="675916">
                  <a:extLst>
                    <a:ext uri="{9D8B030D-6E8A-4147-A177-3AD203B41FA5}">
                      <a16:colId xmlns:a16="http://schemas.microsoft.com/office/drawing/2014/main" val="3806324474"/>
                    </a:ext>
                  </a:extLst>
                </a:gridCol>
                <a:gridCol w="2290608">
                  <a:extLst>
                    <a:ext uri="{9D8B030D-6E8A-4147-A177-3AD203B41FA5}">
                      <a16:colId xmlns:a16="http://schemas.microsoft.com/office/drawing/2014/main" val="1463867913"/>
                    </a:ext>
                  </a:extLst>
                </a:gridCol>
              </a:tblGrid>
              <a:tr h="257400">
                <a:tc>
                  <a:txBody>
                    <a:bodyPr/>
                    <a:lstStyle/>
                    <a:p>
                      <a:pPr algn="ctr" rtl="0" fontAlgn="ctr"/>
                      <a:r>
                        <a:rPr lang="en-US" sz="1800" u="none" strike="noStrike">
                          <a:effectLst/>
                        </a:rPr>
                        <a:t>K</a:t>
                      </a:r>
                      <a:endParaRPr lang="en-US" sz="1800" b="0" i="0" u="none" strike="noStrike">
                        <a:solidFill>
                          <a:srgbClr val="000000"/>
                        </a:solidFill>
                        <a:effectLst/>
                        <a:latin typeface="Calibri" panose="020F0502020204030204" pitchFamily="34" charset="0"/>
                        <a:ea typeface="等线" panose="02010600030101010101" pitchFamily="2" charset="-122"/>
                      </a:endParaRPr>
                    </a:p>
                  </a:txBody>
                  <a:tcPr marL="9525" marR="9525" marT="9525" marB="0" anchor="ctr"/>
                </a:tc>
                <a:tc>
                  <a:txBody>
                    <a:bodyPr/>
                    <a:lstStyle/>
                    <a:p>
                      <a:pPr algn="ctr" rtl="0" fontAlgn="ctr"/>
                      <a:r>
                        <a:rPr lang="en-US" sz="1800" u="none" strike="noStrike" dirty="0">
                          <a:effectLst/>
                        </a:rPr>
                        <a:t>Silhouette Coefficient</a:t>
                      </a:r>
                      <a:endParaRPr lang="en-US" sz="1800" b="0" i="0" u="none" strike="noStrike" dirty="0">
                        <a:solidFill>
                          <a:srgbClr val="000000"/>
                        </a:solidFill>
                        <a:effectLst/>
                        <a:latin typeface="Calibri" panose="020F0502020204030204" pitchFamily="34" charset="0"/>
                        <a:ea typeface="等线" panose="02010600030101010101" pitchFamily="2" charset="-122"/>
                      </a:endParaRPr>
                    </a:p>
                  </a:txBody>
                  <a:tcPr marL="9525" marR="9525" marT="9525" marB="0" anchor="ctr"/>
                </a:tc>
                <a:extLst>
                  <a:ext uri="{0D108BD9-81ED-4DB2-BD59-A6C34878D82A}">
                    <a16:rowId xmlns:a16="http://schemas.microsoft.com/office/drawing/2014/main" val="2936400482"/>
                  </a:ext>
                </a:extLst>
              </a:tr>
              <a:tr h="257400">
                <a:tc>
                  <a:txBody>
                    <a:bodyPr/>
                    <a:lstStyle/>
                    <a:p>
                      <a:pPr algn="ctr" rtl="0" fontAlgn="ctr"/>
                      <a:r>
                        <a:rPr lang="en-US" altLang="zh-CN" sz="1800" u="none" strike="noStrike" dirty="0">
                          <a:effectLst/>
                        </a:rPr>
                        <a:t>3</a:t>
                      </a:r>
                      <a:endParaRPr lang="en-US" altLang="zh-CN" sz="1800" b="0" i="0" u="none" strike="noStrike" dirty="0">
                        <a:solidFill>
                          <a:srgbClr val="000000"/>
                        </a:solidFill>
                        <a:effectLst/>
                        <a:latin typeface="Calibri" panose="020F0502020204030204" pitchFamily="34" charset="0"/>
                        <a:ea typeface="等线" panose="02010600030101010101" pitchFamily="2" charset="-122"/>
                      </a:endParaRPr>
                    </a:p>
                  </a:txBody>
                  <a:tcPr marL="9525" marR="9525" marT="9525" marB="0" anchor="ctr"/>
                </a:tc>
                <a:tc>
                  <a:txBody>
                    <a:bodyPr/>
                    <a:lstStyle/>
                    <a:p>
                      <a:pPr algn="ctr" rtl="0" fontAlgn="ctr"/>
                      <a:r>
                        <a:rPr lang="en-US" altLang="zh-CN" sz="1800" u="none" strike="noStrike" dirty="0">
                          <a:effectLst/>
                        </a:rPr>
                        <a:t>0.281951014</a:t>
                      </a:r>
                      <a:endParaRPr lang="en-US" altLang="zh-CN" sz="1800" b="0" i="0" u="none" strike="noStrike" dirty="0">
                        <a:solidFill>
                          <a:srgbClr val="000000"/>
                        </a:solidFill>
                        <a:effectLst/>
                        <a:latin typeface="Calibri" panose="020F0502020204030204" pitchFamily="34" charset="0"/>
                        <a:ea typeface="等线" panose="02010600030101010101" pitchFamily="2" charset="-122"/>
                      </a:endParaRPr>
                    </a:p>
                  </a:txBody>
                  <a:tcPr marL="9525" marR="9525" marT="9525" marB="0" anchor="ctr"/>
                </a:tc>
                <a:extLst>
                  <a:ext uri="{0D108BD9-81ED-4DB2-BD59-A6C34878D82A}">
                    <a16:rowId xmlns:a16="http://schemas.microsoft.com/office/drawing/2014/main" val="2291620040"/>
                  </a:ext>
                </a:extLst>
              </a:tr>
              <a:tr h="257400">
                <a:tc>
                  <a:txBody>
                    <a:bodyPr/>
                    <a:lstStyle/>
                    <a:p>
                      <a:pPr algn="ctr" rtl="0" fontAlgn="ctr"/>
                      <a:r>
                        <a:rPr lang="en-US" altLang="zh-CN" sz="1800" u="none" strike="noStrike" dirty="0">
                          <a:effectLst/>
                        </a:rPr>
                        <a:t>4</a:t>
                      </a:r>
                      <a:endParaRPr lang="en-US" altLang="zh-CN" sz="1800" b="0" i="0" u="none" strike="noStrike" dirty="0">
                        <a:solidFill>
                          <a:srgbClr val="000000"/>
                        </a:solidFill>
                        <a:effectLst/>
                        <a:latin typeface="Calibri" panose="020F0502020204030204" pitchFamily="34" charset="0"/>
                        <a:ea typeface="等线" panose="02010600030101010101" pitchFamily="2" charset="-122"/>
                      </a:endParaRPr>
                    </a:p>
                  </a:txBody>
                  <a:tcPr marL="9525" marR="9525" marT="9525" marB="0" anchor="ctr"/>
                </a:tc>
                <a:tc>
                  <a:txBody>
                    <a:bodyPr/>
                    <a:lstStyle/>
                    <a:p>
                      <a:pPr algn="ctr" rtl="0" fontAlgn="ctr"/>
                      <a:r>
                        <a:rPr lang="en-US" altLang="zh-CN" sz="1800" u="none" strike="noStrike" dirty="0">
                          <a:effectLst/>
                        </a:rPr>
                        <a:t>0.267750277</a:t>
                      </a:r>
                      <a:endParaRPr lang="en-US" altLang="zh-CN" sz="1800" b="0" i="0" u="none" strike="noStrike" dirty="0">
                        <a:solidFill>
                          <a:srgbClr val="000000"/>
                        </a:solidFill>
                        <a:effectLst/>
                        <a:latin typeface="Calibri" panose="020F0502020204030204" pitchFamily="34" charset="0"/>
                        <a:ea typeface="等线" panose="02010600030101010101" pitchFamily="2" charset="-122"/>
                      </a:endParaRPr>
                    </a:p>
                  </a:txBody>
                  <a:tcPr marL="9525" marR="9525" marT="9525" marB="0" anchor="ctr"/>
                </a:tc>
                <a:extLst>
                  <a:ext uri="{0D108BD9-81ED-4DB2-BD59-A6C34878D82A}">
                    <a16:rowId xmlns:a16="http://schemas.microsoft.com/office/drawing/2014/main" val="3402318274"/>
                  </a:ext>
                </a:extLst>
              </a:tr>
              <a:tr h="257400">
                <a:tc>
                  <a:txBody>
                    <a:bodyPr/>
                    <a:lstStyle/>
                    <a:p>
                      <a:pPr algn="ctr" rtl="0" fontAlgn="ctr"/>
                      <a:r>
                        <a:rPr lang="en-US" altLang="zh-CN" sz="1800" u="none" strike="noStrike">
                          <a:effectLst/>
                        </a:rPr>
                        <a:t>5</a:t>
                      </a:r>
                      <a:endParaRPr lang="en-US" altLang="zh-CN" sz="1800" b="0" i="0" u="none" strike="noStrike">
                        <a:solidFill>
                          <a:srgbClr val="000000"/>
                        </a:solidFill>
                        <a:effectLst/>
                        <a:latin typeface="Calibri" panose="020F0502020204030204" pitchFamily="34" charset="0"/>
                        <a:ea typeface="等线" panose="02010600030101010101" pitchFamily="2" charset="-122"/>
                      </a:endParaRPr>
                    </a:p>
                  </a:txBody>
                  <a:tcPr marL="9525" marR="9525" marT="9525" marB="0" anchor="ctr"/>
                </a:tc>
                <a:tc>
                  <a:txBody>
                    <a:bodyPr/>
                    <a:lstStyle/>
                    <a:p>
                      <a:pPr algn="ctr" rtl="0" fontAlgn="ctr"/>
                      <a:r>
                        <a:rPr lang="en-US" altLang="zh-CN" sz="1800" u="none" strike="noStrike" dirty="0">
                          <a:effectLst/>
                        </a:rPr>
                        <a:t>0.280944585</a:t>
                      </a:r>
                      <a:endParaRPr lang="en-US" altLang="zh-CN" sz="1800" b="0" i="0" u="none" strike="noStrike" dirty="0">
                        <a:solidFill>
                          <a:srgbClr val="000000"/>
                        </a:solidFill>
                        <a:effectLst/>
                        <a:latin typeface="Calibri" panose="020F0502020204030204" pitchFamily="34" charset="0"/>
                        <a:ea typeface="等线" panose="02010600030101010101" pitchFamily="2" charset="-122"/>
                      </a:endParaRPr>
                    </a:p>
                  </a:txBody>
                  <a:tcPr marL="9525" marR="9525" marT="9525" marB="0" anchor="ctr"/>
                </a:tc>
                <a:extLst>
                  <a:ext uri="{0D108BD9-81ED-4DB2-BD59-A6C34878D82A}">
                    <a16:rowId xmlns:a16="http://schemas.microsoft.com/office/drawing/2014/main" val="1144545585"/>
                  </a:ext>
                </a:extLst>
              </a:tr>
              <a:tr h="257400">
                <a:tc>
                  <a:txBody>
                    <a:bodyPr/>
                    <a:lstStyle/>
                    <a:p>
                      <a:pPr algn="ctr" rtl="0" fontAlgn="ctr"/>
                      <a:r>
                        <a:rPr lang="en-US" altLang="zh-CN" sz="1800" u="none" strike="noStrike">
                          <a:effectLst/>
                        </a:rPr>
                        <a:t>6</a:t>
                      </a:r>
                      <a:endParaRPr lang="en-US" altLang="zh-CN" sz="1800" b="0" i="0" u="none" strike="noStrike">
                        <a:solidFill>
                          <a:srgbClr val="000000"/>
                        </a:solidFill>
                        <a:effectLst/>
                        <a:latin typeface="Calibri" panose="020F0502020204030204" pitchFamily="34" charset="0"/>
                        <a:ea typeface="等线" panose="02010600030101010101" pitchFamily="2" charset="-122"/>
                      </a:endParaRPr>
                    </a:p>
                  </a:txBody>
                  <a:tcPr marL="9525" marR="9525" marT="9525" marB="0" anchor="ctr"/>
                </a:tc>
                <a:tc>
                  <a:txBody>
                    <a:bodyPr/>
                    <a:lstStyle/>
                    <a:p>
                      <a:pPr algn="ctr" rtl="0" fontAlgn="ctr"/>
                      <a:r>
                        <a:rPr lang="en-US" altLang="zh-CN" sz="1800" u="none" strike="noStrike" dirty="0">
                          <a:effectLst/>
                        </a:rPr>
                        <a:t>0.267092362</a:t>
                      </a:r>
                      <a:endParaRPr lang="en-US" altLang="zh-CN" sz="1800" b="0" i="0" u="none" strike="noStrike" dirty="0">
                        <a:solidFill>
                          <a:srgbClr val="000000"/>
                        </a:solidFill>
                        <a:effectLst/>
                        <a:latin typeface="Calibri" panose="020F0502020204030204" pitchFamily="34" charset="0"/>
                        <a:ea typeface="等线" panose="02010600030101010101" pitchFamily="2" charset="-122"/>
                      </a:endParaRPr>
                    </a:p>
                  </a:txBody>
                  <a:tcPr marL="9525" marR="9525" marT="9525" marB="0" anchor="ctr"/>
                </a:tc>
                <a:extLst>
                  <a:ext uri="{0D108BD9-81ED-4DB2-BD59-A6C34878D82A}">
                    <a16:rowId xmlns:a16="http://schemas.microsoft.com/office/drawing/2014/main" val="1208221054"/>
                  </a:ext>
                </a:extLst>
              </a:tr>
              <a:tr h="257400">
                <a:tc>
                  <a:txBody>
                    <a:bodyPr/>
                    <a:lstStyle/>
                    <a:p>
                      <a:pPr algn="ctr" rtl="0" fontAlgn="ctr"/>
                      <a:r>
                        <a:rPr lang="en-US" altLang="zh-CN" sz="1800" u="none" strike="noStrike">
                          <a:effectLst/>
                        </a:rPr>
                        <a:t>7</a:t>
                      </a:r>
                      <a:endParaRPr lang="en-US" altLang="zh-CN" sz="1800" b="0" i="0" u="none" strike="noStrike">
                        <a:solidFill>
                          <a:srgbClr val="000000"/>
                        </a:solidFill>
                        <a:effectLst/>
                        <a:latin typeface="Calibri" panose="020F0502020204030204" pitchFamily="34" charset="0"/>
                        <a:ea typeface="等线" panose="02010600030101010101" pitchFamily="2" charset="-122"/>
                      </a:endParaRPr>
                    </a:p>
                  </a:txBody>
                  <a:tcPr marL="9525" marR="9525" marT="9525" marB="0" anchor="ctr"/>
                </a:tc>
                <a:tc>
                  <a:txBody>
                    <a:bodyPr/>
                    <a:lstStyle/>
                    <a:p>
                      <a:pPr algn="ctr" rtl="0" fontAlgn="ctr"/>
                      <a:r>
                        <a:rPr lang="en-US" altLang="zh-CN" sz="1800" u="none" strike="noStrike" dirty="0">
                          <a:effectLst/>
                        </a:rPr>
                        <a:t>0.284524183</a:t>
                      </a:r>
                      <a:endParaRPr lang="en-US" altLang="zh-CN" sz="1800" b="0" i="0" u="none" strike="noStrike" dirty="0">
                        <a:solidFill>
                          <a:srgbClr val="000000"/>
                        </a:solidFill>
                        <a:effectLst/>
                        <a:latin typeface="Calibri" panose="020F0502020204030204" pitchFamily="34" charset="0"/>
                        <a:ea typeface="等线" panose="02010600030101010101" pitchFamily="2" charset="-122"/>
                      </a:endParaRPr>
                    </a:p>
                  </a:txBody>
                  <a:tcPr marL="9525" marR="9525" marT="9525" marB="0" anchor="ctr"/>
                </a:tc>
                <a:extLst>
                  <a:ext uri="{0D108BD9-81ED-4DB2-BD59-A6C34878D82A}">
                    <a16:rowId xmlns:a16="http://schemas.microsoft.com/office/drawing/2014/main" val="2803073714"/>
                  </a:ext>
                </a:extLst>
              </a:tr>
              <a:tr h="257400">
                <a:tc>
                  <a:txBody>
                    <a:bodyPr/>
                    <a:lstStyle/>
                    <a:p>
                      <a:pPr algn="ctr" rtl="0" fontAlgn="ctr"/>
                      <a:r>
                        <a:rPr lang="en-US" altLang="zh-CN" sz="1800" u="none" strike="noStrike">
                          <a:effectLst/>
                        </a:rPr>
                        <a:t>8</a:t>
                      </a:r>
                      <a:endParaRPr lang="en-US" altLang="zh-CN" sz="1800" b="0" i="0" u="none" strike="noStrike">
                        <a:solidFill>
                          <a:srgbClr val="000000"/>
                        </a:solidFill>
                        <a:effectLst/>
                        <a:latin typeface="Calibri" panose="020F0502020204030204" pitchFamily="34" charset="0"/>
                        <a:ea typeface="等线" panose="02010600030101010101" pitchFamily="2" charset="-122"/>
                      </a:endParaRPr>
                    </a:p>
                  </a:txBody>
                  <a:tcPr marL="9525" marR="9525" marT="9525" marB="0" anchor="ctr"/>
                </a:tc>
                <a:tc>
                  <a:txBody>
                    <a:bodyPr/>
                    <a:lstStyle/>
                    <a:p>
                      <a:pPr algn="ctr" rtl="0" fontAlgn="ctr"/>
                      <a:r>
                        <a:rPr lang="en-US" altLang="zh-CN" sz="1800" u="none" strike="noStrike" dirty="0">
                          <a:effectLst/>
                        </a:rPr>
                        <a:t>0.28272994</a:t>
                      </a:r>
                      <a:endParaRPr lang="en-US" altLang="zh-CN" sz="1800" b="0" i="0" u="none" strike="noStrike" dirty="0">
                        <a:solidFill>
                          <a:srgbClr val="000000"/>
                        </a:solidFill>
                        <a:effectLst/>
                        <a:latin typeface="Calibri" panose="020F0502020204030204" pitchFamily="34" charset="0"/>
                        <a:ea typeface="等线" panose="02010600030101010101" pitchFamily="2" charset="-122"/>
                      </a:endParaRPr>
                    </a:p>
                  </a:txBody>
                  <a:tcPr marL="9525" marR="9525" marT="9525" marB="0" anchor="ctr"/>
                </a:tc>
                <a:extLst>
                  <a:ext uri="{0D108BD9-81ED-4DB2-BD59-A6C34878D82A}">
                    <a16:rowId xmlns:a16="http://schemas.microsoft.com/office/drawing/2014/main" val="2997562629"/>
                  </a:ext>
                </a:extLst>
              </a:tr>
            </a:tbl>
          </a:graphicData>
        </a:graphic>
      </p:graphicFrame>
      <p:sp>
        <p:nvSpPr>
          <p:cNvPr id="2" name="TextBox 1">
            <a:extLst>
              <a:ext uri="{FF2B5EF4-FFF2-40B4-BE49-F238E27FC236}">
                <a16:creationId xmlns:a16="http://schemas.microsoft.com/office/drawing/2014/main" id="{E7513094-C8A1-424E-9174-5BA7C3562FF5}"/>
              </a:ext>
            </a:extLst>
          </p:cNvPr>
          <p:cNvSpPr txBox="1"/>
          <p:nvPr/>
        </p:nvSpPr>
        <p:spPr>
          <a:xfrm>
            <a:off x="1036320" y="2447448"/>
            <a:ext cx="2309446" cy="1477328"/>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String Indexer</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Vector Assemble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Standard Scaler</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Normalization</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37111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0989D45-B7CA-8D44-B9FC-2B0EC1246A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189" y="1850390"/>
            <a:ext cx="4593580" cy="4327836"/>
          </a:xfrm>
          <a:prstGeom prst="rect">
            <a:avLst/>
          </a:prstGeom>
        </p:spPr>
      </p:pic>
      <p:sp>
        <p:nvSpPr>
          <p:cNvPr id="2" name="Title 1">
            <a:extLst>
              <a:ext uri="{FF2B5EF4-FFF2-40B4-BE49-F238E27FC236}">
                <a16:creationId xmlns:a16="http://schemas.microsoft.com/office/drawing/2014/main" id="{D0646454-E5CC-422F-91B2-D21908F11429}"/>
              </a:ext>
            </a:extLst>
          </p:cNvPr>
          <p:cNvSpPr>
            <a:spLocks noGrp="1"/>
          </p:cNvSpPr>
          <p:nvPr>
            <p:ph type="title"/>
          </p:nvPr>
        </p:nvSpPr>
        <p:spPr>
          <a:xfrm>
            <a:off x="623189" y="175245"/>
            <a:ext cx="10058400" cy="1450757"/>
          </a:xfrm>
        </p:spPr>
        <p:txBody>
          <a:bodyPr/>
          <a:lstStyle/>
          <a:p>
            <a:r>
              <a:rPr lang="en-US" altLang="zh-CN" dirty="0">
                <a:solidFill>
                  <a:schemeClr val="tx1">
                    <a:lumMod val="95000"/>
                    <a:lumOff val="5000"/>
                  </a:schemeClr>
                </a:solidFill>
                <a:latin typeface="Times New Roman" panose="02020603050405020304" pitchFamily="18" charset="0"/>
                <a:cs typeface="Times New Roman" panose="02020603050405020304" pitchFamily="18" charset="0"/>
              </a:rPr>
              <a:t>Clustering Visualizations</a:t>
            </a:r>
            <a:endParaRPr lang="zh-CN" alt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grpSp>
        <p:nvGrpSpPr>
          <p:cNvPr id="12" name="Group 11">
            <a:extLst>
              <a:ext uri="{FF2B5EF4-FFF2-40B4-BE49-F238E27FC236}">
                <a16:creationId xmlns:a16="http://schemas.microsoft.com/office/drawing/2014/main" id="{2108E9FC-1CD8-2F42-A02B-2F126466C04F}"/>
              </a:ext>
            </a:extLst>
          </p:cNvPr>
          <p:cNvGrpSpPr/>
          <p:nvPr/>
        </p:nvGrpSpPr>
        <p:grpSpPr>
          <a:xfrm>
            <a:off x="1946029" y="1839595"/>
            <a:ext cx="9788528" cy="4004095"/>
            <a:chOff x="1946029" y="1839595"/>
            <a:chExt cx="9788528" cy="4004095"/>
          </a:xfrm>
        </p:grpSpPr>
        <p:pic>
          <p:nvPicPr>
            <p:cNvPr id="8" name="Picture 7" descr="A picture containing graphical user interface&#10;&#10;Description automatically generated">
              <a:extLst>
                <a:ext uri="{FF2B5EF4-FFF2-40B4-BE49-F238E27FC236}">
                  <a16:creationId xmlns:a16="http://schemas.microsoft.com/office/drawing/2014/main" id="{2716ACC6-9DD2-C948-AB64-02B86247C5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839595"/>
              <a:ext cx="5638557" cy="4004095"/>
            </a:xfrm>
            <a:prstGeom prst="rect">
              <a:avLst/>
            </a:prstGeom>
          </p:spPr>
        </p:pic>
        <p:cxnSp>
          <p:nvCxnSpPr>
            <p:cNvPr id="11" name="Straight Arrow Connector 10">
              <a:extLst>
                <a:ext uri="{FF2B5EF4-FFF2-40B4-BE49-F238E27FC236}">
                  <a16:creationId xmlns:a16="http://schemas.microsoft.com/office/drawing/2014/main" id="{719702EA-A44E-F44C-B2AE-268F74947F4E}"/>
                </a:ext>
              </a:extLst>
            </p:cNvPr>
            <p:cNvCxnSpPr>
              <a:cxnSpLocks/>
              <a:endCxn id="8" idx="1"/>
            </p:cNvCxnSpPr>
            <p:nvPr/>
          </p:nvCxnSpPr>
          <p:spPr>
            <a:xfrm flipV="1">
              <a:off x="3191948" y="3841643"/>
              <a:ext cx="2904052" cy="454346"/>
            </a:xfrm>
            <a:prstGeom prst="straightConnector1">
              <a:avLst/>
            </a:prstGeom>
            <a:ln w="25400">
              <a:solidFill>
                <a:srgbClr val="C00000"/>
              </a:solidFill>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C530EDE8-13B1-4BDB-9E59-D7244F1C9B51}"/>
                </a:ext>
              </a:extLst>
            </p:cNvPr>
            <p:cNvSpPr/>
            <p:nvPr/>
          </p:nvSpPr>
          <p:spPr>
            <a:xfrm>
              <a:off x="1946029" y="2145323"/>
              <a:ext cx="1281088" cy="3528646"/>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26633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6B121-3D6C-4825-A907-64AD2F95AC9B}"/>
              </a:ext>
            </a:extLst>
          </p:cNvPr>
          <p:cNvSpPr>
            <a:spLocks noGrp="1"/>
          </p:cNvSpPr>
          <p:nvPr>
            <p:ph type="title"/>
          </p:nvPr>
        </p:nvSpPr>
        <p:spPr>
          <a:xfrm>
            <a:off x="813583" y="87311"/>
            <a:ext cx="10058400" cy="1450757"/>
          </a:xfrm>
        </p:spPr>
        <p:txBody>
          <a:bodyPr/>
          <a:lstStyle/>
          <a:p>
            <a:r>
              <a:rPr lang="en-US" altLang="zh-CN" dirty="0">
                <a:solidFill>
                  <a:schemeClr val="tx1">
                    <a:lumMod val="95000"/>
                    <a:lumOff val="5000"/>
                  </a:schemeClr>
                </a:solidFill>
                <a:latin typeface="Times New Roman" panose="02020603050405020304" pitchFamily="18" charset="0"/>
                <a:cs typeface="Times New Roman" panose="02020603050405020304" pitchFamily="18" charset="0"/>
              </a:rPr>
              <a:t>Recommendation System on Vehicle</a:t>
            </a:r>
            <a:endParaRPr lang="zh-CN" alt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9" name="Picture 8" descr="A picture containing diagram&#10;&#10;Description automatically generated">
            <a:extLst>
              <a:ext uri="{FF2B5EF4-FFF2-40B4-BE49-F238E27FC236}">
                <a16:creationId xmlns:a16="http://schemas.microsoft.com/office/drawing/2014/main" id="{6926A658-40D4-7048-BD49-C2E43B030D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3583" y="1853932"/>
            <a:ext cx="5059680" cy="4478288"/>
          </a:xfrm>
          <a:prstGeom prst="rect">
            <a:avLst/>
          </a:prstGeom>
        </p:spPr>
      </p:pic>
      <p:pic>
        <p:nvPicPr>
          <p:cNvPr id="11" name="Picture 10" descr="Graphical user interface&#10;&#10;Description automatically generated">
            <a:extLst>
              <a:ext uri="{FF2B5EF4-FFF2-40B4-BE49-F238E27FC236}">
                <a16:creationId xmlns:a16="http://schemas.microsoft.com/office/drawing/2014/main" id="{B07791C2-EBCA-AA4F-AFE3-50CC2D6FB5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16210" y="1853932"/>
            <a:ext cx="5011097" cy="4478288"/>
          </a:xfrm>
          <a:prstGeom prst="rect">
            <a:avLst/>
          </a:prstGeom>
        </p:spPr>
      </p:pic>
    </p:spTree>
    <p:extLst>
      <p:ext uri="{BB962C8B-B14F-4D97-AF65-F5344CB8AC3E}">
        <p14:creationId xmlns:p14="http://schemas.microsoft.com/office/powerpoint/2010/main" val="32212952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C2950-C503-4408-A89C-008C6C130622}"/>
              </a:ext>
            </a:extLst>
          </p:cNvPr>
          <p:cNvSpPr>
            <a:spLocks noGrp="1"/>
          </p:cNvSpPr>
          <p:nvPr>
            <p:ph type="title"/>
          </p:nvPr>
        </p:nvSpPr>
        <p:spPr/>
        <p:txBody>
          <a:bodyPr/>
          <a:lstStyle/>
          <a:p>
            <a:r>
              <a:rPr lang="en-US" altLang="zh-CN" dirty="0">
                <a:solidFill>
                  <a:schemeClr val="tx1">
                    <a:lumMod val="95000"/>
                    <a:lumOff val="5000"/>
                  </a:schemeClr>
                </a:solidFill>
                <a:latin typeface="Times New Roman" panose="02020603050405020304" pitchFamily="18" charset="0"/>
                <a:cs typeface="Times New Roman" panose="02020603050405020304" pitchFamily="18" charset="0"/>
              </a:rPr>
              <a:t>Problems</a:t>
            </a:r>
            <a:endParaRPr lang="zh-CN" alt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3A66AD7-7CF0-43C5-80A6-A2D644CD203A}"/>
              </a:ext>
            </a:extLst>
          </p:cNvPr>
          <p:cNvSpPr>
            <a:spLocks noGrp="1"/>
          </p:cNvSpPr>
          <p:nvPr>
            <p:ph idx="1"/>
          </p:nvPr>
        </p:nvSpPr>
        <p:spPr/>
        <p:txBody>
          <a:bodyPr/>
          <a:lstStyle/>
          <a:p>
            <a:r>
              <a:rPr lang="en-US" altLang="zh-CN" dirty="0">
                <a:solidFill>
                  <a:schemeClr val="tx1">
                    <a:lumMod val="95000"/>
                    <a:lumOff val="5000"/>
                  </a:schemeClr>
                </a:solidFill>
                <a:latin typeface="Times New Roman" panose="02020603050405020304" pitchFamily="18" charset="0"/>
                <a:cs typeface="Times New Roman" panose="02020603050405020304" pitchFamily="18" charset="0"/>
              </a:rPr>
              <a:t>1. Clusters Similarity </a:t>
            </a:r>
          </a:p>
          <a:p>
            <a:pPr lvl="1"/>
            <a:r>
              <a:rPr lang="en-US" altLang="zh-CN" dirty="0">
                <a:solidFill>
                  <a:schemeClr val="tx1">
                    <a:lumMod val="95000"/>
                    <a:lumOff val="5000"/>
                  </a:schemeClr>
                </a:solidFill>
                <a:latin typeface="Times New Roman" panose="02020603050405020304" pitchFamily="18" charset="0"/>
                <a:cs typeface="Times New Roman" panose="02020603050405020304" pitchFamily="18" charset="0"/>
              </a:rPr>
              <a:t>Although we separated our dataset into 6 clusters, they are not differentiable enough for us to identify the unique features of each cluster.</a:t>
            </a:r>
          </a:p>
          <a:p>
            <a:pPr marL="201168" lvl="1" indent="0">
              <a:buNone/>
            </a:pPr>
            <a:endParaRPr lang="en-US" altLang="zh-CN"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US" altLang="zh-CN" dirty="0">
                <a:solidFill>
                  <a:schemeClr val="tx1">
                    <a:lumMod val="95000"/>
                    <a:lumOff val="5000"/>
                  </a:schemeClr>
                </a:solidFill>
                <a:latin typeface="Times New Roman" panose="02020603050405020304" pitchFamily="18" charset="0"/>
                <a:cs typeface="Times New Roman" panose="02020603050405020304" pitchFamily="18" charset="0"/>
              </a:rPr>
              <a:t>2. Duplicates</a:t>
            </a:r>
          </a:p>
          <a:p>
            <a:pPr lvl="1"/>
            <a:r>
              <a:rPr lang="en-US" altLang="zh-CN" dirty="0">
                <a:solidFill>
                  <a:schemeClr val="tx1">
                    <a:lumMod val="95000"/>
                    <a:lumOff val="5000"/>
                  </a:schemeClr>
                </a:solidFill>
                <a:latin typeface="Times New Roman" panose="02020603050405020304" pitchFamily="18" charset="0"/>
                <a:cs typeface="Times New Roman" panose="02020603050405020304" pitchFamily="18" charset="0"/>
              </a:rPr>
              <a:t>Since many vehicle models come from the same manufacturer and encompass the same features, they cannot be deleted. It is also import to continue to track the same make and model in different years due to the time lapse component of our research.</a:t>
            </a:r>
          </a:p>
          <a:p>
            <a:pPr lvl="1"/>
            <a:endParaRPr lang="en-US" altLang="zh-CN" dirty="0">
              <a:solidFill>
                <a:schemeClr val="tx1">
                  <a:lumMod val="95000"/>
                  <a:lumOff val="5000"/>
                </a:schemeClr>
              </a:solidFill>
              <a:latin typeface="Times New Roman" panose="02020603050405020304" pitchFamily="18" charset="0"/>
              <a:cs typeface="Times New Roman" panose="02020603050405020304" pitchFamily="18" charset="0"/>
            </a:endParaRPr>
          </a:p>
          <a:p>
            <a:pPr lvl="1"/>
            <a:endParaRPr lang="en-US" altLang="zh-CN" dirty="0">
              <a:solidFill>
                <a:schemeClr val="tx1">
                  <a:lumMod val="95000"/>
                  <a:lumOff val="5000"/>
                </a:schemeClr>
              </a:solidFill>
              <a:latin typeface="Times New Roman" panose="02020603050405020304" pitchFamily="18" charset="0"/>
              <a:cs typeface="Times New Roman" panose="02020603050405020304" pitchFamily="18" charset="0"/>
            </a:endParaRPr>
          </a:p>
          <a:p>
            <a:endParaRPr lang="zh-CN" alt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114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9E77F-036F-45F8-A7E8-2C4FB0EF94ED}"/>
              </a:ext>
            </a:extLst>
          </p:cNvPr>
          <p:cNvSpPr>
            <a:spLocks noGrp="1"/>
          </p:cNvSpPr>
          <p:nvPr>
            <p:ph type="title"/>
          </p:nvPr>
        </p:nvSpPr>
        <p:spPr/>
        <p:txBody>
          <a:bodyPr/>
          <a:lstStyle/>
          <a:p>
            <a:r>
              <a:rPr lang="en-US" altLang="zh-CN" dirty="0">
                <a:solidFill>
                  <a:schemeClr val="tx1">
                    <a:lumMod val="95000"/>
                    <a:lumOff val="5000"/>
                  </a:schemeClr>
                </a:solidFill>
                <a:latin typeface="Times New Roman" panose="02020603050405020304" pitchFamily="18" charset="0"/>
                <a:cs typeface="Times New Roman" panose="02020603050405020304" pitchFamily="18" charset="0"/>
              </a:rPr>
              <a:t>Summary and Work to do</a:t>
            </a:r>
            <a:endParaRPr lang="zh-CN" alt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039552B-AF2B-43BA-8774-451D1BCBC5F3}"/>
              </a:ext>
            </a:extLst>
          </p:cNvPr>
          <p:cNvSpPr>
            <a:spLocks noGrp="1"/>
          </p:cNvSpPr>
          <p:nvPr>
            <p:ph idx="1"/>
          </p:nvPr>
        </p:nvSpPr>
        <p:spPr/>
        <p:txBody>
          <a:bodyPr/>
          <a:lstStyle/>
          <a:p>
            <a:pPr marL="457200" lvl="0" indent="-311150" algn="l" rtl="0">
              <a:spcBef>
                <a:spcPts val="0"/>
              </a:spcBef>
              <a:spcAft>
                <a:spcPts val="0"/>
              </a:spcAft>
              <a:buClr>
                <a:srgbClr val="000000"/>
              </a:buClr>
              <a:buSzPts val="1300"/>
              <a:buChar char="●"/>
            </a:pPr>
            <a:r>
              <a:rPr lang="en-US" altLang="zh-CN" dirty="0">
                <a:solidFill>
                  <a:srgbClr val="000000"/>
                </a:solidFill>
                <a:latin typeface="Times New Roman" panose="02020603050405020304" pitchFamily="18" charset="0"/>
                <a:cs typeface="Times New Roman" panose="02020603050405020304" pitchFamily="18" charset="0"/>
              </a:rPr>
              <a:t>Summary</a:t>
            </a:r>
          </a:p>
          <a:p>
            <a:pPr marL="749808" lvl="1" indent="-311150">
              <a:spcBef>
                <a:spcPts val="0"/>
              </a:spcBef>
              <a:spcAft>
                <a:spcPts val="0"/>
              </a:spcAft>
              <a:buClr>
                <a:srgbClr val="000000"/>
              </a:buClr>
              <a:buSzPts val="1300"/>
              <a:buChar char="●"/>
            </a:pPr>
            <a:r>
              <a:rPr lang="en-US" altLang="zh-CN" dirty="0">
                <a:solidFill>
                  <a:srgbClr val="000000"/>
                </a:solidFill>
                <a:latin typeface="Times New Roman" panose="02020603050405020304" pitchFamily="18" charset="0"/>
                <a:cs typeface="Times New Roman" panose="02020603050405020304" pitchFamily="18" charset="0"/>
              </a:rPr>
              <a:t>Based on the linear prediction model accuracy, we believe we have generated relatively accurate prediction model for Save/Spend. However, we will try to improve the model accuracy on CO2 emission by add cross validation and grid search.</a:t>
            </a:r>
          </a:p>
          <a:p>
            <a:pPr marL="749808" lvl="1" indent="-311150">
              <a:spcBef>
                <a:spcPts val="0"/>
              </a:spcBef>
              <a:spcAft>
                <a:spcPts val="0"/>
              </a:spcAft>
              <a:buClr>
                <a:srgbClr val="000000"/>
              </a:buClr>
              <a:buSzPts val="1300"/>
              <a:buChar char="●"/>
            </a:pPr>
            <a:endParaRPr lang="en-US" altLang="zh-CN" dirty="0">
              <a:solidFill>
                <a:srgbClr val="000000"/>
              </a:solidFill>
              <a:latin typeface="Times New Roman" panose="02020603050405020304" pitchFamily="18" charset="0"/>
              <a:cs typeface="Times New Roman" panose="02020603050405020304" pitchFamily="18" charset="0"/>
            </a:endParaRPr>
          </a:p>
          <a:p>
            <a:pPr marL="749808" lvl="1" indent="-311150">
              <a:spcBef>
                <a:spcPts val="0"/>
              </a:spcBef>
              <a:spcAft>
                <a:spcPts val="0"/>
              </a:spcAft>
              <a:buClr>
                <a:srgbClr val="000000"/>
              </a:buClr>
              <a:buSzPts val="1300"/>
              <a:buChar char="●"/>
            </a:pPr>
            <a:r>
              <a:rPr lang="en-US" altLang="zh-CN" dirty="0">
                <a:solidFill>
                  <a:srgbClr val="000000"/>
                </a:solidFill>
                <a:latin typeface="Times New Roman" panose="02020603050405020304" pitchFamily="18" charset="0"/>
                <a:cs typeface="Times New Roman" panose="02020603050405020304" pitchFamily="18" charset="0"/>
              </a:rPr>
              <a:t>We have successfully used our models to validate the inference that we made. </a:t>
            </a:r>
          </a:p>
          <a:p>
            <a:pPr marL="457200" lvl="0" indent="-311150" algn="l" rtl="0">
              <a:spcBef>
                <a:spcPts val="0"/>
              </a:spcBef>
              <a:spcAft>
                <a:spcPts val="0"/>
              </a:spcAft>
              <a:buClr>
                <a:srgbClr val="000000"/>
              </a:buClr>
              <a:buSzPts val="1300"/>
              <a:buChar char="●"/>
            </a:pPr>
            <a:endParaRPr lang="en-US" altLang="zh-CN" dirty="0">
              <a:solidFill>
                <a:srgbClr val="000000"/>
              </a:solidFill>
              <a:latin typeface="Times New Roman" panose="02020603050405020304" pitchFamily="18" charset="0"/>
              <a:cs typeface="Times New Roman" panose="02020603050405020304" pitchFamily="18" charset="0"/>
            </a:endParaRPr>
          </a:p>
          <a:p>
            <a:pPr marL="457200" lvl="0" indent="-311150" algn="l" rtl="0">
              <a:spcBef>
                <a:spcPts val="0"/>
              </a:spcBef>
              <a:spcAft>
                <a:spcPts val="0"/>
              </a:spcAft>
              <a:buClr>
                <a:srgbClr val="000000"/>
              </a:buClr>
              <a:buSzPts val="1300"/>
              <a:buChar char="●"/>
            </a:pPr>
            <a:r>
              <a:rPr lang="en-US" altLang="zh-CN" dirty="0">
                <a:solidFill>
                  <a:srgbClr val="000000"/>
                </a:solidFill>
                <a:latin typeface="Times New Roman" panose="02020603050405020304" pitchFamily="18" charset="0"/>
                <a:cs typeface="Times New Roman" panose="02020603050405020304" pitchFamily="18" charset="0"/>
              </a:rPr>
              <a:t>Work to do</a:t>
            </a:r>
          </a:p>
          <a:p>
            <a:pPr marL="749808" lvl="1" indent="-311150">
              <a:spcBef>
                <a:spcPts val="0"/>
              </a:spcBef>
              <a:spcAft>
                <a:spcPts val="0"/>
              </a:spcAft>
              <a:buClr>
                <a:srgbClr val="000000"/>
              </a:buClr>
              <a:buSzPts val="1300"/>
              <a:buChar char="●"/>
            </a:pPr>
            <a:r>
              <a:rPr lang="en-US" altLang="zh-CN" dirty="0">
                <a:solidFill>
                  <a:srgbClr val="000000"/>
                </a:solidFill>
                <a:latin typeface="Times New Roman" panose="02020603050405020304" pitchFamily="18" charset="0"/>
                <a:cs typeface="Times New Roman" panose="02020603050405020304" pitchFamily="18" charset="0"/>
              </a:rPr>
              <a:t>Improve the accuracy on predictive model.</a:t>
            </a:r>
          </a:p>
          <a:p>
            <a:pPr marL="749808" lvl="1" indent="-311150">
              <a:spcBef>
                <a:spcPts val="0"/>
              </a:spcBef>
              <a:spcAft>
                <a:spcPts val="0"/>
              </a:spcAft>
              <a:buClr>
                <a:srgbClr val="000000"/>
              </a:buClr>
              <a:buSzPts val="1300"/>
              <a:buChar char="●"/>
            </a:pPr>
            <a:r>
              <a:rPr lang="en-US" altLang="zh-CN" dirty="0">
                <a:solidFill>
                  <a:srgbClr val="000000"/>
                </a:solidFill>
                <a:latin typeface="Times New Roman" panose="02020603050405020304" pitchFamily="18" charset="0"/>
                <a:cs typeface="Times New Roman" panose="02020603050405020304" pitchFamily="18" charset="0"/>
              </a:rPr>
              <a:t>We will add logistic regression model and random forest to improve our results.</a:t>
            </a:r>
          </a:p>
          <a:p>
            <a:pPr marL="438658" lvl="1" indent="0">
              <a:spcBef>
                <a:spcPts val="0"/>
              </a:spcBef>
              <a:spcAft>
                <a:spcPts val="0"/>
              </a:spcAft>
              <a:buClr>
                <a:srgbClr val="000000"/>
              </a:buClr>
              <a:buSzPts val="1300"/>
              <a:buNone/>
            </a:pPr>
            <a:endParaRPr lang="en-US" altLang="zh-CN" dirty="0">
              <a:solidFill>
                <a:srgbClr val="000000"/>
              </a:solidFill>
              <a:latin typeface="Times New Roman" panose="02020603050405020304" pitchFamily="18" charset="0"/>
              <a:cs typeface="Times New Roman" panose="02020603050405020304" pitchFamily="18" charset="0"/>
            </a:endParaRPr>
          </a:p>
          <a:p>
            <a:pPr marL="749808" lvl="1" indent="-311150">
              <a:spcBef>
                <a:spcPts val="0"/>
              </a:spcBef>
              <a:spcAft>
                <a:spcPts val="0"/>
              </a:spcAft>
              <a:buClr>
                <a:srgbClr val="000000"/>
              </a:buClr>
              <a:buSzPts val="1300"/>
              <a:buChar char="●"/>
            </a:pPr>
            <a:endParaRPr lang="en-US" altLang="zh-CN" dirty="0">
              <a:solidFill>
                <a:srgbClr val="000000"/>
              </a:solidFill>
              <a:latin typeface="Times New Roman" panose="02020603050405020304" pitchFamily="18" charset="0"/>
              <a:cs typeface="Times New Roman" panose="02020603050405020304" pitchFamily="18" charset="0"/>
            </a:endParaRPr>
          </a:p>
          <a:p>
            <a:pPr marL="457200" lvl="0" indent="-311150" algn="l" rtl="0">
              <a:spcBef>
                <a:spcPts val="0"/>
              </a:spcBef>
              <a:spcAft>
                <a:spcPts val="0"/>
              </a:spcAft>
              <a:buClr>
                <a:srgbClr val="000000"/>
              </a:buClr>
              <a:buSzPts val="1300"/>
              <a:buChar char="●"/>
            </a:pPr>
            <a:endParaRPr lang="en-US" altLang="zh-CN" dirty="0">
              <a:solidFill>
                <a:srgbClr val="000000"/>
              </a:solidFill>
              <a:latin typeface="Times New Roman" panose="02020603050405020304" pitchFamily="18" charset="0"/>
              <a:cs typeface="Times New Roman" panose="02020603050405020304" pitchFamily="18" charset="0"/>
            </a:endParaRPr>
          </a:p>
          <a:p>
            <a:pPr marL="914400" lvl="1" indent="-298450" algn="l" rtl="0">
              <a:spcBef>
                <a:spcPts val="0"/>
              </a:spcBef>
              <a:spcAft>
                <a:spcPts val="0"/>
              </a:spcAft>
              <a:buSzPts val="1100"/>
              <a:buChar char="○"/>
            </a:pPr>
            <a:endParaRPr lang="en-US" altLang="zh-CN" dirty="0">
              <a:latin typeface="Times New Roman" panose="02020603050405020304" pitchFamily="18" charset="0"/>
              <a:cs typeface="Times New Roman" panose="02020603050405020304" pitchFamily="18" charset="0"/>
            </a:endParaRPr>
          </a:p>
          <a:p>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5325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19A9D-C878-4111-8DC4-EDB87026C652}"/>
              </a:ext>
            </a:extLst>
          </p:cNvPr>
          <p:cNvSpPr>
            <a:spLocks noGrp="1"/>
          </p:cNvSpPr>
          <p:nvPr>
            <p:ph type="title"/>
          </p:nvPr>
        </p:nvSpPr>
        <p:spPr/>
        <p:txBody>
          <a:bodyPr/>
          <a:lstStyle/>
          <a:p>
            <a:r>
              <a:rPr lang="en-US" altLang="zh-CN" dirty="0">
                <a:solidFill>
                  <a:schemeClr val="tx1">
                    <a:lumMod val="95000"/>
                    <a:lumOff val="5000"/>
                  </a:schemeClr>
                </a:solidFill>
                <a:latin typeface="Times New Roman" panose="02020603050405020304" pitchFamily="18" charset="0"/>
                <a:cs typeface="Times New Roman" panose="02020603050405020304" pitchFamily="18" charset="0"/>
              </a:rPr>
              <a:t>Team </a:t>
            </a:r>
            <a:r>
              <a:rPr lang="en-US" altLang="zh-CN">
                <a:solidFill>
                  <a:schemeClr val="tx1">
                    <a:lumMod val="95000"/>
                    <a:lumOff val="5000"/>
                  </a:schemeClr>
                </a:solidFill>
                <a:latin typeface="Times New Roman" panose="02020603050405020304" pitchFamily="18" charset="0"/>
                <a:cs typeface="Times New Roman" panose="02020603050405020304" pitchFamily="18" charset="0"/>
              </a:rPr>
              <a:t>Member Contribution</a:t>
            </a:r>
            <a:endParaRPr lang="zh-CN" alt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9737B98-A7B3-4D19-89C1-58B390767EFF}"/>
              </a:ext>
            </a:extLst>
          </p:cNvPr>
          <p:cNvSpPr>
            <a:spLocks noGrp="1"/>
          </p:cNvSpPr>
          <p:nvPr>
            <p:ph idx="1"/>
          </p:nvPr>
        </p:nvSpPr>
        <p:spPr>
          <a:xfrm>
            <a:off x="1097279" y="1845734"/>
            <a:ext cx="10873047" cy="4023360"/>
          </a:xfrm>
        </p:spPr>
        <p:txBody>
          <a:bodyPr/>
          <a:lstStyle/>
          <a:p>
            <a:r>
              <a:rPr lang="en-US" altLang="zh-CN" dirty="0">
                <a:solidFill>
                  <a:schemeClr val="tx1">
                    <a:lumMod val="95000"/>
                    <a:lumOff val="5000"/>
                  </a:schemeClr>
                </a:solidFill>
                <a:latin typeface="Times New Roman" panose="02020603050405020304" pitchFamily="18" charset="0"/>
                <a:cs typeface="Times New Roman" panose="02020603050405020304" pitchFamily="18" charset="0"/>
              </a:rPr>
              <a:t>Matt: Project Introduction, data exploration, logistic regression and visualization; Prediction/Inference</a:t>
            </a:r>
          </a:p>
          <a:p>
            <a:r>
              <a:rPr lang="en-US" altLang="zh-CN" dirty="0">
                <a:solidFill>
                  <a:schemeClr val="tx1">
                    <a:lumMod val="95000"/>
                    <a:lumOff val="5000"/>
                  </a:schemeClr>
                </a:solidFill>
                <a:latin typeface="Times New Roman" panose="02020603050405020304" pitchFamily="18" charset="0"/>
                <a:cs typeface="Times New Roman" panose="02020603050405020304" pitchFamily="18" charset="0"/>
              </a:rPr>
              <a:t>Ji: Linear Regression model and PCA Weight; Predication/Inference</a:t>
            </a:r>
          </a:p>
          <a:p>
            <a:r>
              <a:rPr lang="en-US" altLang="zh-CN" dirty="0" err="1">
                <a:solidFill>
                  <a:schemeClr val="tx1">
                    <a:lumMod val="95000"/>
                    <a:lumOff val="5000"/>
                  </a:schemeClr>
                </a:solidFill>
                <a:latin typeface="Times New Roman" panose="02020603050405020304" pitchFamily="18" charset="0"/>
                <a:cs typeface="Times New Roman" panose="02020603050405020304" pitchFamily="18" charset="0"/>
              </a:rPr>
              <a:t>Zhongwei</a:t>
            </a:r>
            <a:r>
              <a:rPr lang="en-US" altLang="zh-CN" dirty="0">
                <a:solidFill>
                  <a:schemeClr val="tx1">
                    <a:lumMod val="95000"/>
                    <a:lumOff val="5000"/>
                  </a:schemeClr>
                </a:solidFill>
                <a:latin typeface="Times New Roman" panose="02020603050405020304" pitchFamily="18" charset="0"/>
                <a:cs typeface="Times New Roman" panose="02020603050405020304" pitchFamily="18" charset="0"/>
              </a:rPr>
              <a:t>: Data Visualization, K-Means Analysis  and Recommendation system ; Predication/Inference </a:t>
            </a:r>
            <a:endParaRPr lang="zh-CN" alt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75019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E79E7-50F8-418F-9277-270C1718D1EB}"/>
              </a:ext>
            </a:extLst>
          </p:cNvPr>
          <p:cNvSpPr>
            <a:spLocks noGrp="1"/>
          </p:cNvSpPr>
          <p:nvPr>
            <p:ph type="title"/>
          </p:nvPr>
        </p:nvSpPr>
        <p:spPr>
          <a:xfrm>
            <a:off x="838200" y="2766218"/>
            <a:ext cx="10515600" cy="1325563"/>
          </a:xfrm>
        </p:spPr>
        <p:txBody>
          <a:bodyPr/>
          <a:lstStyle/>
          <a:p>
            <a:pPr algn="ctr"/>
            <a:r>
              <a:rPr lang="en-US" altLang="zh-CN" dirty="0">
                <a:solidFill>
                  <a:schemeClr val="tx1">
                    <a:lumMod val="95000"/>
                    <a:lumOff val="5000"/>
                  </a:schemeClr>
                </a:solidFill>
                <a:latin typeface="Times New Roman" panose="02020603050405020304" pitchFamily="18" charset="0"/>
                <a:cs typeface="Times New Roman" panose="02020603050405020304" pitchFamily="18" charset="0"/>
              </a:rPr>
              <a:t>Thank you!</a:t>
            </a:r>
            <a:endParaRPr lang="zh-CN" alt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560817"/>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739</TotalTime>
  <Words>657</Words>
  <Application>Microsoft Office PowerPoint</Application>
  <PresentationFormat>Widescreen</PresentationFormat>
  <Paragraphs>100</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等线</vt:lpstr>
      <vt:lpstr>Arial</vt:lpstr>
      <vt:lpstr>Calibri</vt:lpstr>
      <vt:lpstr>Calibri Light</vt:lpstr>
      <vt:lpstr>Times New Roman</vt:lpstr>
      <vt:lpstr>Retrospect</vt:lpstr>
      <vt:lpstr>Vehicle Data Analysis</vt:lpstr>
      <vt:lpstr>Overview</vt:lpstr>
      <vt:lpstr>Dataset Introduction</vt:lpstr>
      <vt:lpstr>Data exploration</vt:lpstr>
      <vt:lpstr>Project Goals </vt:lpstr>
      <vt:lpstr>Project Goals </vt:lpstr>
      <vt:lpstr>Prediction Outcomes</vt:lpstr>
      <vt:lpstr>Inference</vt:lpstr>
      <vt:lpstr>K-Means Cluster Analysis</vt:lpstr>
      <vt:lpstr>Clustering Visualizations</vt:lpstr>
      <vt:lpstr>Recommendation System on Vehicle</vt:lpstr>
      <vt:lpstr>Problems</vt:lpstr>
      <vt:lpstr>Summary and Work to do</vt:lpstr>
      <vt:lpstr>Team Member Contribution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Vehicles Data Analysis</dc:title>
  <dc:creator>Ji Ma</dc:creator>
  <cp:lastModifiedBy>Ji Ma</cp:lastModifiedBy>
  <cp:revision>55</cp:revision>
  <dcterms:created xsi:type="dcterms:W3CDTF">2020-11-18T18:15:04Z</dcterms:created>
  <dcterms:modified xsi:type="dcterms:W3CDTF">2020-11-19T21:40:41Z</dcterms:modified>
</cp:coreProperties>
</file>